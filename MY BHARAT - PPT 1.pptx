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1F487C"/>
                </a:solidFill>
                <a:latin typeface="Aptos"/>
                <a:cs typeface="Apto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rgbClr val="006FC0"/>
                </a:solidFill>
                <a:latin typeface="Aptos"/>
                <a:cs typeface="Apto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17375E"/>
                </a:solidFill>
                <a:latin typeface="Aptos"/>
                <a:cs typeface="Aptos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@HSC</a:t>
            </a:r>
            <a:r>
              <a:rPr spc="-35" dirty="0"/>
              <a:t> </a:t>
            </a:r>
            <a:r>
              <a:rPr dirty="0"/>
              <a:t>submission-</a:t>
            </a:r>
            <a:r>
              <a:rPr spc="-30" dirty="0"/>
              <a:t> </a:t>
            </a:r>
            <a:r>
              <a:rPr spc="-10" dirty="0"/>
              <a:t>Template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1F487C"/>
                </a:solidFill>
                <a:latin typeface="Aptos"/>
                <a:cs typeface="Apto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rgbClr val="006FC0"/>
                </a:solidFill>
                <a:latin typeface="Aptos"/>
                <a:cs typeface="Apto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17375E"/>
                </a:solidFill>
                <a:latin typeface="Aptos"/>
                <a:cs typeface="Aptos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@HSC</a:t>
            </a:r>
            <a:r>
              <a:rPr spc="-35" dirty="0"/>
              <a:t> </a:t>
            </a:r>
            <a:r>
              <a:rPr dirty="0"/>
              <a:t>submission-</a:t>
            </a:r>
            <a:r>
              <a:rPr spc="-30" dirty="0"/>
              <a:t> </a:t>
            </a:r>
            <a:r>
              <a:rPr spc="-10" dirty="0"/>
              <a:t>Template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1F487C"/>
                </a:solidFill>
                <a:latin typeface="Aptos"/>
                <a:cs typeface="Apto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17375E"/>
                </a:solidFill>
                <a:latin typeface="Aptos"/>
                <a:cs typeface="Aptos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@HSC</a:t>
            </a:r>
            <a:r>
              <a:rPr spc="-35" dirty="0"/>
              <a:t> </a:t>
            </a:r>
            <a:r>
              <a:rPr dirty="0"/>
              <a:t>submission-</a:t>
            </a:r>
            <a:r>
              <a:rPr spc="-30" dirty="0"/>
              <a:t> </a:t>
            </a:r>
            <a:r>
              <a:rPr spc="-10" dirty="0"/>
              <a:t>Template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1F487C"/>
                </a:solidFill>
                <a:latin typeface="Aptos"/>
                <a:cs typeface="Apto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17375E"/>
                </a:solidFill>
                <a:latin typeface="Aptos"/>
                <a:cs typeface="Aptos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@HSC</a:t>
            </a:r>
            <a:r>
              <a:rPr spc="-35" dirty="0"/>
              <a:t> </a:t>
            </a:r>
            <a:r>
              <a:rPr dirty="0"/>
              <a:t>submission-</a:t>
            </a:r>
            <a:r>
              <a:rPr spc="-30" dirty="0"/>
              <a:t> </a:t>
            </a:r>
            <a:r>
              <a:rPr spc="-10" dirty="0"/>
              <a:t>Template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17375E"/>
                </a:solidFill>
                <a:latin typeface="Aptos"/>
                <a:cs typeface="Aptos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@HSC</a:t>
            </a:r>
            <a:r>
              <a:rPr spc="-35" dirty="0"/>
              <a:t> </a:t>
            </a:r>
            <a:r>
              <a:rPr dirty="0"/>
              <a:t>submission-</a:t>
            </a:r>
            <a:r>
              <a:rPr spc="-30" dirty="0"/>
              <a:t> </a:t>
            </a:r>
            <a:r>
              <a:rPr spc="-10" dirty="0"/>
              <a:t>Template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342133" y="111378"/>
            <a:ext cx="6553708" cy="11258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1F487C"/>
                </a:solidFill>
                <a:latin typeface="Aptos"/>
                <a:cs typeface="Apto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21335" y="1623136"/>
            <a:ext cx="11084560" cy="45857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rgbClr val="006FC0"/>
                </a:solidFill>
                <a:latin typeface="Aptos"/>
                <a:cs typeface="Apto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580382" y="6505376"/>
            <a:ext cx="2266950" cy="2438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17375E"/>
                </a:solidFill>
                <a:latin typeface="Aptos"/>
                <a:cs typeface="Aptos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@HSC</a:t>
            </a:r>
            <a:r>
              <a:rPr spc="-35" dirty="0"/>
              <a:t> </a:t>
            </a:r>
            <a:r>
              <a:rPr dirty="0"/>
              <a:t>submission-</a:t>
            </a:r>
            <a:r>
              <a:rPr spc="-30" dirty="0"/>
              <a:t> </a:t>
            </a:r>
            <a:r>
              <a:rPr spc="-10" dirty="0"/>
              <a:t>Template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jp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jp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jp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jp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jp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google.com/search?q=DHT22+AM2302+official+datasheet+PDF&amp;utm_source=chatgpt.com" TargetMode="External"/><Relationship Id="rId3" Type="http://schemas.openxmlformats.org/officeDocument/2006/relationships/image" Target="../media/image3.png"/><Relationship Id="rId7" Type="http://schemas.openxmlformats.org/officeDocument/2006/relationships/hyperlink" Target="https://documentation.espressif.com/esp32_datasheet_en.html?utm_source=chatgpt.com" TargetMode="External"/><Relationship Id="rId12" Type="http://schemas.openxmlformats.org/officeDocument/2006/relationships/hyperlink" Target="https://scholar.google.com/scholar?q=AI+based+gas+leakage+detection+system&amp;utm_source=chatgpt.com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winsen-sensor.com/?utm_source=chatgpt.com" TargetMode="External"/><Relationship Id="rId11" Type="http://schemas.openxmlformats.org/officeDocument/2006/relationships/hyperlink" Target="https://scholar.google.com/scholar?q=IoT+based+gas+leakage+detection+system&amp;utm_source=chatgpt.com" TargetMode="External"/><Relationship Id="rId5" Type="http://schemas.openxmlformats.org/officeDocument/2006/relationships/image" Target="../media/image1.jpg"/><Relationship Id="rId10" Type="http://schemas.openxmlformats.org/officeDocument/2006/relationships/hyperlink" Target="https://www.mathworks.com/help/thingspeak/?utm_source=chatgpt.com" TargetMode="External"/><Relationship Id="rId4" Type="http://schemas.openxmlformats.org/officeDocument/2006/relationships/image" Target="../media/image4.png"/><Relationship Id="rId9" Type="http://schemas.openxmlformats.org/officeDocument/2006/relationships/hyperlink" Target="https://docs.arduino.cc/?utm_source=chatgpt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097528" y="241503"/>
            <a:ext cx="233997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Cover</a:t>
            </a:r>
            <a:r>
              <a:rPr spc="-100" dirty="0"/>
              <a:t> </a:t>
            </a:r>
            <a:r>
              <a:rPr spc="-25" dirty="0"/>
              <a:t>Page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13233" y="32511"/>
            <a:ext cx="1824817" cy="935863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914400" y="1676400"/>
            <a:ext cx="10776103" cy="33185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97815" algn="l"/>
              </a:tabLst>
            </a:pPr>
            <a:r>
              <a:rPr sz="2400" b="1" spc="-10" dirty="0">
                <a:solidFill>
                  <a:srgbClr val="006FC0"/>
                </a:solidFill>
                <a:latin typeface="Aptos"/>
                <a:cs typeface="Aptos"/>
              </a:rPr>
              <a:t>Problem</a:t>
            </a:r>
            <a:r>
              <a:rPr sz="2400" b="1" spc="-105" dirty="0">
                <a:solidFill>
                  <a:srgbClr val="006FC0"/>
                </a:solidFill>
                <a:latin typeface="Aptos"/>
                <a:cs typeface="Aptos"/>
              </a:rPr>
              <a:t> </a:t>
            </a:r>
            <a:r>
              <a:rPr sz="2400" b="1" dirty="0">
                <a:solidFill>
                  <a:srgbClr val="006FC0"/>
                </a:solidFill>
                <a:latin typeface="Aptos"/>
                <a:cs typeface="Aptos"/>
              </a:rPr>
              <a:t>Statement/Concept</a:t>
            </a:r>
            <a:r>
              <a:rPr sz="2400" b="1" spc="-95" dirty="0">
                <a:solidFill>
                  <a:srgbClr val="006FC0"/>
                </a:solidFill>
                <a:latin typeface="Aptos"/>
                <a:cs typeface="Aptos"/>
              </a:rPr>
              <a:t> </a:t>
            </a:r>
            <a:r>
              <a:rPr sz="2400" b="1" spc="-10" dirty="0">
                <a:solidFill>
                  <a:srgbClr val="006FC0"/>
                </a:solidFill>
                <a:latin typeface="Aptos"/>
                <a:cs typeface="Aptos"/>
              </a:rPr>
              <a:t>Title</a:t>
            </a:r>
            <a:r>
              <a:rPr lang="en-IN" sz="2400" b="1" spc="-10" dirty="0">
                <a:solidFill>
                  <a:srgbClr val="006FC0"/>
                </a:solidFill>
                <a:latin typeface="Aptos"/>
                <a:cs typeface="Aptos"/>
              </a:rPr>
              <a:t>:    </a:t>
            </a:r>
            <a:r>
              <a:rPr lang="en-IN" sz="2400" b="1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  <a:cs typeface="Aptos"/>
              </a:rPr>
              <a:t>Advanced Gas Safety Sensor</a:t>
            </a:r>
            <a:endParaRPr sz="2400" dirty="0">
              <a:solidFill>
                <a:schemeClr val="tx1">
                  <a:lumMod val="95000"/>
                  <a:lumOff val="5000"/>
                </a:schemeClr>
              </a:solidFill>
              <a:latin typeface="Aptos"/>
              <a:cs typeface="Aptos"/>
            </a:endParaRPr>
          </a:p>
          <a:p>
            <a:pPr marL="297815" indent="-285115">
              <a:lnSpc>
                <a:spcPct val="100000"/>
              </a:lnSpc>
              <a:spcBef>
                <a:spcPts val="2885"/>
              </a:spcBef>
              <a:buFont typeface="Arial"/>
              <a:buChar char="•"/>
              <a:tabLst>
                <a:tab pos="297815" algn="l"/>
              </a:tabLst>
            </a:pPr>
            <a:r>
              <a:rPr sz="2400" b="1" spc="-10" dirty="0">
                <a:solidFill>
                  <a:srgbClr val="006FC0"/>
                </a:solidFill>
                <a:latin typeface="Aptos"/>
                <a:cs typeface="Aptos"/>
              </a:rPr>
              <a:t>Theme</a:t>
            </a:r>
            <a:r>
              <a:rPr lang="en-IN" sz="2400" b="1" spc="-10" dirty="0">
                <a:solidFill>
                  <a:srgbClr val="006FC0"/>
                </a:solidFill>
                <a:latin typeface="Aptos"/>
                <a:cs typeface="Aptos"/>
              </a:rPr>
              <a:t>:                                                                 </a:t>
            </a:r>
            <a:r>
              <a:rPr lang="en-IN" sz="2400" b="1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  <a:cs typeface="Aptos"/>
              </a:rPr>
              <a:t>Innovation and Sustainable Technology</a:t>
            </a:r>
            <a:r>
              <a:rPr lang="en-IN" sz="2400" b="1" spc="-10" dirty="0">
                <a:solidFill>
                  <a:srgbClr val="006FC0"/>
                </a:solidFill>
                <a:latin typeface="Aptos"/>
                <a:cs typeface="Aptos"/>
              </a:rPr>
              <a:t>                                             </a:t>
            </a:r>
            <a:endParaRPr sz="2400" dirty="0">
              <a:latin typeface="Aptos"/>
              <a:cs typeface="Aptos"/>
            </a:endParaRPr>
          </a:p>
          <a:p>
            <a:pPr marL="297815" indent="-285115">
              <a:lnSpc>
                <a:spcPct val="100000"/>
              </a:lnSpc>
              <a:spcBef>
                <a:spcPts val="2880"/>
              </a:spcBef>
              <a:buFont typeface="Arial"/>
              <a:buChar char="•"/>
              <a:tabLst>
                <a:tab pos="297815" algn="l"/>
              </a:tabLst>
            </a:pPr>
            <a:r>
              <a:rPr sz="2400" b="1" spc="-50" dirty="0">
                <a:solidFill>
                  <a:srgbClr val="006FC0"/>
                </a:solidFill>
                <a:latin typeface="Aptos"/>
                <a:cs typeface="Aptos"/>
              </a:rPr>
              <a:t>Team</a:t>
            </a:r>
            <a:r>
              <a:rPr sz="2400" b="1" spc="-35" dirty="0">
                <a:solidFill>
                  <a:srgbClr val="006FC0"/>
                </a:solidFill>
                <a:latin typeface="Aptos"/>
                <a:cs typeface="Aptos"/>
              </a:rPr>
              <a:t> </a:t>
            </a:r>
            <a:r>
              <a:rPr sz="2400" b="1" dirty="0">
                <a:solidFill>
                  <a:srgbClr val="006FC0"/>
                </a:solidFill>
                <a:latin typeface="Aptos"/>
                <a:cs typeface="Aptos"/>
              </a:rPr>
              <a:t>Name</a:t>
            </a:r>
            <a:r>
              <a:rPr sz="2400" b="1" spc="-45" dirty="0">
                <a:solidFill>
                  <a:srgbClr val="006FC0"/>
                </a:solidFill>
                <a:latin typeface="Aptos"/>
                <a:cs typeface="Aptos"/>
              </a:rPr>
              <a:t> </a:t>
            </a:r>
            <a:r>
              <a:rPr sz="2400" b="1" spc="-10" dirty="0">
                <a:solidFill>
                  <a:srgbClr val="006FC0"/>
                </a:solidFill>
                <a:latin typeface="Aptos"/>
                <a:cs typeface="Aptos"/>
              </a:rPr>
              <a:t>(Registered</a:t>
            </a:r>
            <a:r>
              <a:rPr sz="2400" b="1" spc="-50" dirty="0">
                <a:solidFill>
                  <a:srgbClr val="006FC0"/>
                </a:solidFill>
                <a:latin typeface="Aptos"/>
                <a:cs typeface="Aptos"/>
              </a:rPr>
              <a:t> </a:t>
            </a:r>
            <a:r>
              <a:rPr sz="2400" b="1" dirty="0">
                <a:solidFill>
                  <a:srgbClr val="006FC0"/>
                </a:solidFill>
                <a:latin typeface="Aptos"/>
                <a:cs typeface="Aptos"/>
              </a:rPr>
              <a:t>on</a:t>
            </a:r>
            <a:r>
              <a:rPr sz="2400" b="1" spc="-45" dirty="0">
                <a:solidFill>
                  <a:srgbClr val="006FC0"/>
                </a:solidFill>
                <a:latin typeface="Aptos"/>
                <a:cs typeface="Aptos"/>
              </a:rPr>
              <a:t> </a:t>
            </a:r>
            <a:r>
              <a:rPr sz="2400" b="1" spc="-10" dirty="0">
                <a:solidFill>
                  <a:srgbClr val="006FC0"/>
                </a:solidFill>
                <a:latin typeface="Aptos"/>
                <a:cs typeface="Aptos"/>
              </a:rPr>
              <a:t>portal)</a:t>
            </a:r>
            <a:r>
              <a:rPr lang="en-IN" sz="2400" b="1" spc="-10" dirty="0">
                <a:solidFill>
                  <a:srgbClr val="006FC0"/>
                </a:solidFill>
                <a:latin typeface="Aptos"/>
                <a:cs typeface="Aptos"/>
              </a:rPr>
              <a:t>:    </a:t>
            </a:r>
            <a:r>
              <a:rPr lang="en-IN" sz="2400" b="1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  <a:cs typeface="Aptos"/>
              </a:rPr>
              <a:t>AGSS </a:t>
            </a:r>
            <a:r>
              <a:rPr lang="en-IN" sz="2400" b="1" spc="-10" dirty="0">
                <a:solidFill>
                  <a:srgbClr val="006FC0"/>
                </a:solidFill>
                <a:latin typeface="Aptos"/>
                <a:cs typeface="Aptos"/>
              </a:rPr>
              <a:t>  </a:t>
            </a:r>
            <a:endParaRPr sz="2400" dirty="0">
              <a:latin typeface="Aptos"/>
              <a:cs typeface="Aptos"/>
            </a:endParaRPr>
          </a:p>
          <a:p>
            <a:pPr marL="297815" indent="-285115">
              <a:lnSpc>
                <a:spcPct val="100000"/>
              </a:lnSpc>
              <a:spcBef>
                <a:spcPts val="2880"/>
              </a:spcBef>
              <a:buFont typeface="Arial"/>
              <a:buChar char="•"/>
              <a:tabLst>
                <a:tab pos="297815" algn="l"/>
              </a:tabLst>
            </a:pPr>
            <a:r>
              <a:rPr sz="2400" b="1" spc="-50" dirty="0">
                <a:solidFill>
                  <a:srgbClr val="006FC0"/>
                </a:solidFill>
                <a:latin typeface="Aptos"/>
                <a:cs typeface="Aptos"/>
              </a:rPr>
              <a:t>Team</a:t>
            </a:r>
            <a:r>
              <a:rPr sz="2400" b="1" spc="-5" dirty="0">
                <a:solidFill>
                  <a:srgbClr val="006FC0"/>
                </a:solidFill>
                <a:latin typeface="Aptos"/>
                <a:cs typeface="Aptos"/>
              </a:rPr>
              <a:t> </a:t>
            </a:r>
            <a:r>
              <a:rPr sz="2400" b="1" spc="-10" dirty="0">
                <a:solidFill>
                  <a:srgbClr val="006FC0"/>
                </a:solidFill>
                <a:latin typeface="Aptos"/>
                <a:cs typeface="Aptos"/>
              </a:rPr>
              <a:t>ID(Registered</a:t>
            </a:r>
            <a:r>
              <a:rPr sz="2400" b="1" spc="-20" dirty="0">
                <a:solidFill>
                  <a:srgbClr val="006FC0"/>
                </a:solidFill>
                <a:latin typeface="Aptos"/>
                <a:cs typeface="Aptos"/>
              </a:rPr>
              <a:t> </a:t>
            </a:r>
            <a:r>
              <a:rPr sz="2400" b="1" dirty="0">
                <a:solidFill>
                  <a:srgbClr val="006FC0"/>
                </a:solidFill>
                <a:latin typeface="Aptos"/>
                <a:cs typeface="Aptos"/>
              </a:rPr>
              <a:t>on</a:t>
            </a:r>
            <a:r>
              <a:rPr sz="2400" b="1" spc="-25" dirty="0">
                <a:solidFill>
                  <a:srgbClr val="006FC0"/>
                </a:solidFill>
                <a:latin typeface="Aptos"/>
                <a:cs typeface="Aptos"/>
              </a:rPr>
              <a:t> </a:t>
            </a:r>
            <a:r>
              <a:rPr sz="2400" b="1" spc="-10" dirty="0">
                <a:solidFill>
                  <a:srgbClr val="006FC0"/>
                </a:solidFill>
                <a:latin typeface="Aptos"/>
                <a:cs typeface="Aptos"/>
              </a:rPr>
              <a:t>portal)</a:t>
            </a:r>
            <a:r>
              <a:rPr lang="en-IN" sz="2400" b="1" spc="-10" dirty="0">
                <a:solidFill>
                  <a:srgbClr val="006FC0"/>
                </a:solidFill>
                <a:latin typeface="Aptos"/>
                <a:cs typeface="Aptos"/>
              </a:rPr>
              <a:t>:              </a:t>
            </a:r>
            <a:r>
              <a:rPr lang="en-IN" sz="2400" b="1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  <a:cs typeface="Aptos"/>
              </a:rPr>
              <a:t>HSC|TN|01988</a:t>
            </a:r>
            <a:endParaRPr sz="2400" dirty="0">
              <a:solidFill>
                <a:schemeClr val="tx1">
                  <a:lumMod val="95000"/>
                  <a:lumOff val="5000"/>
                </a:schemeClr>
              </a:solidFill>
              <a:latin typeface="Aptos"/>
              <a:cs typeface="Aptos"/>
            </a:endParaRPr>
          </a:p>
          <a:p>
            <a:pPr marL="297815" indent="-285115">
              <a:lnSpc>
                <a:spcPct val="100000"/>
              </a:lnSpc>
              <a:spcBef>
                <a:spcPts val="2880"/>
              </a:spcBef>
              <a:buFont typeface="Arial"/>
              <a:buChar char="•"/>
              <a:tabLst>
                <a:tab pos="297815" algn="l"/>
              </a:tabLst>
            </a:pPr>
            <a:r>
              <a:rPr sz="2400" b="1" spc="-10" dirty="0">
                <a:solidFill>
                  <a:srgbClr val="006FC0"/>
                </a:solidFill>
                <a:latin typeface="Aptos"/>
                <a:cs typeface="Aptos"/>
              </a:rPr>
              <a:t>State/UT</a:t>
            </a:r>
            <a:r>
              <a:rPr lang="en-IN" sz="2400" b="1" spc="-10" dirty="0">
                <a:solidFill>
                  <a:srgbClr val="006FC0"/>
                </a:solidFill>
                <a:latin typeface="Aptos"/>
                <a:cs typeface="Aptos"/>
              </a:rPr>
              <a:t>:                                                             </a:t>
            </a:r>
            <a:r>
              <a:rPr lang="en-IN" sz="2400" b="1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  <a:cs typeface="Aptos"/>
              </a:rPr>
              <a:t>Tamil Nadu</a:t>
            </a:r>
            <a:endParaRPr sz="2400" dirty="0">
              <a:solidFill>
                <a:schemeClr val="tx1">
                  <a:lumMod val="95000"/>
                  <a:lumOff val="5000"/>
                </a:schemeClr>
              </a:solidFill>
              <a:latin typeface="Aptos"/>
              <a:cs typeface="Apto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580382" y="6494475"/>
            <a:ext cx="226695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17375E"/>
                </a:solidFill>
                <a:latin typeface="Aptos"/>
                <a:cs typeface="Aptos"/>
              </a:rPr>
              <a:t>@HSC</a:t>
            </a:r>
            <a:r>
              <a:rPr sz="1400" spc="-35" dirty="0">
                <a:solidFill>
                  <a:srgbClr val="17375E"/>
                </a:solidFill>
                <a:latin typeface="Aptos"/>
                <a:cs typeface="Aptos"/>
              </a:rPr>
              <a:t> </a:t>
            </a:r>
            <a:r>
              <a:rPr sz="1400" dirty="0">
                <a:solidFill>
                  <a:srgbClr val="17375E"/>
                </a:solidFill>
                <a:latin typeface="Aptos"/>
                <a:cs typeface="Aptos"/>
              </a:rPr>
              <a:t>submission-</a:t>
            </a:r>
            <a:r>
              <a:rPr sz="1400" spc="-30" dirty="0">
                <a:solidFill>
                  <a:srgbClr val="17375E"/>
                </a:solidFill>
                <a:latin typeface="Aptos"/>
                <a:cs typeface="Aptos"/>
              </a:rPr>
              <a:t> </a:t>
            </a:r>
            <a:r>
              <a:rPr sz="1400" spc="-10" dirty="0">
                <a:solidFill>
                  <a:srgbClr val="17375E"/>
                </a:solidFill>
                <a:latin typeface="Aptos"/>
                <a:cs typeface="Aptos"/>
              </a:rPr>
              <a:t>Template</a:t>
            </a:r>
            <a:endParaRPr sz="1400">
              <a:latin typeface="Aptos"/>
              <a:cs typeface="Aptos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1398122" y="6423456"/>
            <a:ext cx="107314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888888"/>
                </a:solidFill>
                <a:latin typeface="Aptos"/>
                <a:cs typeface="Aptos"/>
              </a:rPr>
              <a:t>2</a:t>
            </a:r>
            <a:endParaRPr sz="1200">
              <a:latin typeface="Aptos"/>
              <a:cs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5"/>
          <p:cNvGrpSpPr/>
          <p:nvPr/>
        </p:nvGrpSpPr>
        <p:grpSpPr>
          <a:xfrm>
            <a:off x="160070" y="100795"/>
            <a:ext cx="1654175" cy="930275"/>
            <a:chOff x="144771" y="124951"/>
            <a:chExt cx="1654175" cy="93027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4771" y="124951"/>
              <a:ext cx="1653556" cy="92968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3776" y="205727"/>
              <a:ext cx="966203" cy="83516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2994" y="143510"/>
              <a:ext cx="1581924" cy="857631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82994" y="143510"/>
              <a:ext cx="1582420" cy="857885"/>
            </a:xfrm>
            <a:custGeom>
              <a:avLst/>
              <a:gdLst/>
              <a:ahLst/>
              <a:cxnLst/>
              <a:rect l="l" t="t" r="r" b="b"/>
              <a:pathLst>
                <a:path w="1582420" h="857885">
                  <a:moveTo>
                    <a:pt x="0" y="428879"/>
                  </a:moveTo>
                  <a:lnTo>
                    <a:pt x="9401" y="362553"/>
                  </a:lnTo>
                  <a:lnTo>
                    <a:pt x="36668" y="299430"/>
                  </a:lnTo>
                  <a:lnTo>
                    <a:pt x="80394" y="240272"/>
                  </a:lnTo>
                  <a:lnTo>
                    <a:pt x="107989" y="212419"/>
                  </a:lnTo>
                  <a:lnTo>
                    <a:pt x="139171" y="185843"/>
                  </a:lnTo>
                  <a:lnTo>
                    <a:pt x="173765" y="160640"/>
                  </a:lnTo>
                  <a:lnTo>
                    <a:pt x="211594" y="136905"/>
                  </a:lnTo>
                  <a:lnTo>
                    <a:pt x="252482" y="114734"/>
                  </a:lnTo>
                  <a:lnTo>
                    <a:pt x="296254" y="94222"/>
                  </a:lnTo>
                  <a:lnTo>
                    <a:pt x="342734" y="75464"/>
                  </a:lnTo>
                  <a:lnTo>
                    <a:pt x="391747" y="58556"/>
                  </a:lnTo>
                  <a:lnTo>
                    <a:pt x="443115" y="43593"/>
                  </a:lnTo>
                  <a:lnTo>
                    <a:pt x="496663" y="30670"/>
                  </a:lnTo>
                  <a:lnTo>
                    <a:pt x="552216" y="19883"/>
                  </a:lnTo>
                  <a:lnTo>
                    <a:pt x="609598" y="11327"/>
                  </a:lnTo>
                  <a:lnTo>
                    <a:pt x="668632" y="5097"/>
                  </a:lnTo>
                  <a:lnTo>
                    <a:pt x="729143" y="1290"/>
                  </a:lnTo>
                  <a:lnTo>
                    <a:pt x="790955" y="0"/>
                  </a:lnTo>
                  <a:lnTo>
                    <a:pt x="852776" y="1290"/>
                  </a:lnTo>
                  <a:lnTo>
                    <a:pt x="913294" y="5097"/>
                  </a:lnTo>
                  <a:lnTo>
                    <a:pt x="972334" y="11327"/>
                  </a:lnTo>
                  <a:lnTo>
                    <a:pt x="1029720" y="19883"/>
                  </a:lnTo>
                  <a:lnTo>
                    <a:pt x="1085276" y="30670"/>
                  </a:lnTo>
                  <a:lnTo>
                    <a:pt x="1138827" y="43593"/>
                  </a:lnTo>
                  <a:lnTo>
                    <a:pt x="1190196" y="58556"/>
                  </a:lnTo>
                  <a:lnTo>
                    <a:pt x="1239208" y="75464"/>
                  </a:lnTo>
                  <a:lnTo>
                    <a:pt x="1285688" y="94222"/>
                  </a:lnTo>
                  <a:lnTo>
                    <a:pt x="1329460" y="114734"/>
                  </a:lnTo>
                  <a:lnTo>
                    <a:pt x="1370347" y="136905"/>
                  </a:lnTo>
                  <a:lnTo>
                    <a:pt x="1408174" y="160640"/>
                  </a:lnTo>
                  <a:lnTo>
                    <a:pt x="1442765" y="185843"/>
                  </a:lnTo>
                  <a:lnTo>
                    <a:pt x="1473946" y="212419"/>
                  </a:lnTo>
                  <a:lnTo>
                    <a:pt x="1501538" y="240272"/>
                  </a:lnTo>
                  <a:lnTo>
                    <a:pt x="1545260" y="299430"/>
                  </a:lnTo>
                  <a:lnTo>
                    <a:pt x="1572524" y="362553"/>
                  </a:lnTo>
                  <a:lnTo>
                    <a:pt x="1581924" y="428879"/>
                  </a:lnTo>
                  <a:lnTo>
                    <a:pt x="1579545" y="462393"/>
                  </a:lnTo>
                  <a:lnTo>
                    <a:pt x="1561037" y="527207"/>
                  </a:lnTo>
                  <a:lnTo>
                    <a:pt x="1525369" y="588431"/>
                  </a:lnTo>
                  <a:lnTo>
                    <a:pt x="1473946" y="645305"/>
                  </a:lnTo>
                  <a:lnTo>
                    <a:pt x="1442765" y="671873"/>
                  </a:lnTo>
                  <a:lnTo>
                    <a:pt x="1408174" y="697067"/>
                  </a:lnTo>
                  <a:lnTo>
                    <a:pt x="1370347" y="720793"/>
                  </a:lnTo>
                  <a:lnTo>
                    <a:pt x="1329460" y="742955"/>
                  </a:lnTo>
                  <a:lnTo>
                    <a:pt x="1285688" y="763458"/>
                  </a:lnTo>
                  <a:lnTo>
                    <a:pt x="1239208" y="782207"/>
                  </a:lnTo>
                  <a:lnTo>
                    <a:pt x="1190196" y="799107"/>
                  </a:lnTo>
                  <a:lnTo>
                    <a:pt x="1138827" y="814062"/>
                  </a:lnTo>
                  <a:lnTo>
                    <a:pt x="1085276" y="826978"/>
                  </a:lnTo>
                  <a:lnTo>
                    <a:pt x="1029720" y="837759"/>
                  </a:lnTo>
                  <a:lnTo>
                    <a:pt x="972334" y="846310"/>
                  </a:lnTo>
                  <a:lnTo>
                    <a:pt x="913294" y="852536"/>
                  </a:lnTo>
                  <a:lnTo>
                    <a:pt x="852776" y="856341"/>
                  </a:lnTo>
                  <a:lnTo>
                    <a:pt x="790955" y="857631"/>
                  </a:lnTo>
                  <a:lnTo>
                    <a:pt x="729143" y="856341"/>
                  </a:lnTo>
                  <a:lnTo>
                    <a:pt x="668632" y="852536"/>
                  </a:lnTo>
                  <a:lnTo>
                    <a:pt x="609598" y="846310"/>
                  </a:lnTo>
                  <a:lnTo>
                    <a:pt x="552216" y="837759"/>
                  </a:lnTo>
                  <a:lnTo>
                    <a:pt x="496663" y="826978"/>
                  </a:lnTo>
                  <a:lnTo>
                    <a:pt x="443115" y="814062"/>
                  </a:lnTo>
                  <a:lnTo>
                    <a:pt x="391747" y="799107"/>
                  </a:lnTo>
                  <a:lnTo>
                    <a:pt x="342734" y="782207"/>
                  </a:lnTo>
                  <a:lnTo>
                    <a:pt x="296254" y="763458"/>
                  </a:lnTo>
                  <a:lnTo>
                    <a:pt x="252482" y="742955"/>
                  </a:lnTo>
                  <a:lnTo>
                    <a:pt x="211594" y="720793"/>
                  </a:lnTo>
                  <a:lnTo>
                    <a:pt x="173765" y="697067"/>
                  </a:lnTo>
                  <a:lnTo>
                    <a:pt x="139171" y="671873"/>
                  </a:lnTo>
                  <a:lnTo>
                    <a:pt x="107989" y="645305"/>
                  </a:lnTo>
                  <a:lnTo>
                    <a:pt x="80394" y="617460"/>
                  </a:lnTo>
                  <a:lnTo>
                    <a:pt x="36668" y="558315"/>
                  </a:lnTo>
                  <a:lnTo>
                    <a:pt x="9401" y="495201"/>
                  </a:lnTo>
                  <a:lnTo>
                    <a:pt x="0" y="428879"/>
                  </a:lnTo>
                  <a:close/>
                </a:path>
              </a:pathLst>
            </a:custGeom>
            <a:ln w="9525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674428" y="355530"/>
            <a:ext cx="62484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7625">
              <a:lnSpc>
                <a:spcPct val="100000"/>
              </a:lnSpc>
              <a:spcBef>
                <a:spcPts val="100"/>
              </a:spcBef>
            </a:pPr>
            <a:r>
              <a:rPr lang="en-IN" b="1" spc="-20" dirty="0">
                <a:latin typeface="Aptos"/>
                <a:cs typeface="Aptos"/>
              </a:rPr>
              <a:t>AGSS</a:t>
            </a:r>
            <a:endParaRPr sz="1800" b="1" dirty="0">
              <a:latin typeface="Aptos"/>
              <a:cs typeface="Aptos"/>
            </a:endParaRP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29006" rIns="0" bIns="0" rtlCol="0">
            <a:spAutoFit/>
          </a:bodyPr>
          <a:lstStyle/>
          <a:p>
            <a:pPr marL="664210">
              <a:lnSpc>
                <a:spcPct val="100000"/>
              </a:lnSpc>
              <a:spcBef>
                <a:spcPts val="105"/>
              </a:spcBef>
            </a:pPr>
            <a:r>
              <a:rPr sz="3200" dirty="0"/>
              <a:t>Problem</a:t>
            </a:r>
            <a:r>
              <a:rPr sz="3200" spc="-75" dirty="0"/>
              <a:t> </a:t>
            </a:r>
            <a:r>
              <a:rPr sz="3200" dirty="0"/>
              <a:t>–</a:t>
            </a:r>
            <a:r>
              <a:rPr sz="3200" spc="-65" dirty="0"/>
              <a:t> </a:t>
            </a:r>
            <a:r>
              <a:rPr sz="3200" dirty="0"/>
              <a:t>Proposed</a:t>
            </a:r>
            <a:r>
              <a:rPr sz="3200" spc="-80" dirty="0"/>
              <a:t> </a:t>
            </a:r>
            <a:r>
              <a:rPr sz="3200" spc="-10" dirty="0"/>
              <a:t>Solution</a:t>
            </a:r>
            <a:endParaRPr sz="3200"/>
          </a:p>
        </p:txBody>
      </p:sp>
      <p:pic>
        <p:nvPicPr>
          <p:cNvPr id="4" name="object 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013233" y="32511"/>
            <a:ext cx="1824817" cy="935863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784606" y="1237233"/>
            <a:ext cx="10622788" cy="56425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400" b="1" dirty="0">
                <a:latin typeface="Aptos"/>
                <a:cs typeface="Aptos"/>
              </a:rPr>
              <a:t>The problem</a:t>
            </a:r>
          </a:p>
          <a:p>
            <a:pPr marL="12700">
              <a:spcBef>
                <a:spcPts val="100"/>
              </a:spcBef>
            </a:pPr>
            <a:r>
              <a:rPr lang="en-IN" sz="1600" dirty="0"/>
              <a:t>Gas leakage can cause fires, explosions, and loss of life in homes and industries. The Advanced Gas Safety Sensor uses an MQ-2 gas sensor, DHT22 temperature sensor, and ESP32 microcontroller to detect gas leakage, monitor temperature, and </a:t>
            </a:r>
            <a:r>
              <a:rPr lang="en-IN" sz="1600" dirty="0" err="1"/>
              <a:t>analyze</a:t>
            </a:r>
            <a:r>
              <a:rPr lang="en-IN" sz="1600" dirty="0"/>
              <a:t> potential risks using AI. The system aims to provide real-time monitoring, instant alerts, and automatic gas shut-off to improve safety and protect human lives.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IN" sz="2400" b="1" dirty="0">
              <a:latin typeface="Aptos"/>
              <a:cs typeface="Aptos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400" b="1" dirty="0">
                <a:latin typeface="Aptos"/>
                <a:cs typeface="Aptos"/>
              </a:rPr>
              <a:t>Proposed Solution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600" dirty="0"/>
              <a:t>The Advanced Gas Safety Sensor proposes a smart gas leakage detection system using an MQ-2 gas sensor, DHT22 temperature sensor, and ESP32 microcontroller to monitor gas levels and temperature in real time. a and improve safety in homes and industries.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IN" sz="1600" b="1" dirty="0">
              <a:latin typeface="Aptos"/>
              <a:cs typeface="Aptos"/>
            </a:endParaRPr>
          </a:p>
          <a:p>
            <a:r>
              <a:rPr lang="en-IN" sz="2400" b="1" dirty="0">
                <a:latin typeface="Aptos"/>
                <a:cs typeface="Aptos"/>
              </a:rPr>
              <a:t>What makes it different?</a:t>
            </a:r>
            <a:br>
              <a:rPr lang="en-IN" sz="1600" b="1" dirty="0">
                <a:latin typeface="Aptos"/>
                <a:cs typeface="Aptos"/>
              </a:rPr>
            </a:br>
            <a:r>
              <a:rPr lang="en-IN" sz="1600" dirty="0"/>
              <a:t>1. AI-Based Risk Analysis: Identifies gas leakage risk levels as Low, Medium, High, or Critical for faster decision-making.</a:t>
            </a:r>
          </a:p>
          <a:p>
            <a:r>
              <a:rPr lang="en-IN" sz="1600" dirty="0"/>
              <a:t>2. Smart IoT Monitoring: Uses ESP32 to enable real-time monitoring of gas levels and temperature through a dashboard.</a:t>
            </a:r>
          </a:p>
          <a:p>
            <a:r>
              <a:rPr lang="en-IN" sz="1600" dirty="0"/>
              <a:t>3. Intelligent Safety Response: Combines instant alerts, multilingual voice assistance in English, Tamil, and Hindi, and a proposed automatic gas shut-off mechanism to improve safety.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IN" sz="1600" b="1" dirty="0">
              <a:latin typeface="Aptos"/>
              <a:cs typeface="Aptos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2400" dirty="0">
              <a:latin typeface="Aptos"/>
              <a:cs typeface="Aptos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xfrm flipH="1">
            <a:off x="13487400" y="7391400"/>
            <a:ext cx="45719" cy="65608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endParaRPr spc="-1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5"/>
          <p:cNvGrpSpPr/>
          <p:nvPr/>
        </p:nvGrpSpPr>
        <p:grpSpPr>
          <a:xfrm>
            <a:off x="144771" y="124951"/>
            <a:ext cx="1654175" cy="930275"/>
            <a:chOff x="144771" y="124951"/>
            <a:chExt cx="1654175" cy="93027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4771" y="124951"/>
              <a:ext cx="1653556" cy="92968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3776" y="205727"/>
              <a:ext cx="966203" cy="83516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2994" y="143510"/>
              <a:ext cx="1581924" cy="857631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82994" y="143510"/>
              <a:ext cx="1582420" cy="857885"/>
            </a:xfrm>
            <a:custGeom>
              <a:avLst/>
              <a:gdLst/>
              <a:ahLst/>
              <a:cxnLst/>
              <a:rect l="l" t="t" r="r" b="b"/>
              <a:pathLst>
                <a:path w="1582420" h="857885">
                  <a:moveTo>
                    <a:pt x="0" y="428879"/>
                  </a:moveTo>
                  <a:lnTo>
                    <a:pt x="9401" y="362553"/>
                  </a:lnTo>
                  <a:lnTo>
                    <a:pt x="36668" y="299430"/>
                  </a:lnTo>
                  <a:lnTo>
                    <a:pt x="80394" y="240272"/>
                  </a:lnTo>
                  <a:lnTo>
                    <a:pt x="107989" y="212419"/>
                  </a:lnTo>
                  <a:lnTo>
                    <a:pt x="139171" y="185843"/>
                  </a:lnTo>
                  <a:lnTo>
                    <a:pt x="173765" y="160640"/>
                  </a:lnTo>
                  <a:lnTo>
                    <a:pt x="211594" y="136905"/>
                  </a:lnTo>
                  <a:lnTo>
                    <a:pt x="252482" y="114734"/>
                  </a:lnTo>
                  <a:lnTo>
                    <a:pt x="296254" y="94222"/>
                  </a:lnTo>
                  <a:lnTo>
                    <a:pt x="342734" y="75464"/>
                  </a:lnTo>
                  <a:lnTo>
                    <a:pt x="391747" y="58556"/>
                  </a:lnTo>
                  <a:lnTo>
                    <a:pt x="443115" y="43593"/>
                  </a:lnTo>
                  <a:lnTo>
                    <a:pt x="496663" y="30670"/>
                  </a:lnTo>
                  <a:lnTo>
                    <a:pt x="552216" y="19883"/>
                  </a:lnTo>
                  <a:lnTo>
                    <a:pt x="609598" y="11327"/>
                  </a:lnTo>
                  <a:lnTo>
                    <a:pt x="668632" y="5097"/>
                  </a:lnTo>
                  <a:lnTo>
                    <a:pt x="729143" y="1290"/>
                  </a:lnTo>
                  <a:lnTo>
                    <a:pt x="790955" y="0"/>
                  </a:lnTo>
                  <a:lnTo>
                    <a:pt x="852776" y="1290"/>
                  </a:lnTo>
                  <a:lnTo>
                    <a:pt x="913294" y="5097"/>
                  </a:lnTo>
                  <a:lnTo>
                    <a:pt x="972334" y="11327"/>
                  </a:lnTo>
                  <a:lnTo>
                    <a:pt x="1029720" y="19883"/>
                  </a:lnTo>
                  <a:lnTo>
                    <a:pt x="1085276" y="30670"/>
                  </a:lnTo>
                  <a:lnTo>
                    <a:pt x="1138827" y="43593"/>
                  </a:lnTo>
                  <a:lnTo>
                    <a:pt x="1190196" y="58556"/>
                  </a:lnTo>
                  <a:lnTo>
                    <a:pt x="1239208" y="75464"/>
                  </a:lnTo>
                  <a:lnTo>
                    <a:pt x="1285688" y="94222"/>
                  </a:lnTo>
                  <a:lnTo>
                    <a:pt x="1329460" y="114734"/>
                  </a:lnTo>
                  <a:lnTo>
                    <a:pt x="1370347" y="136905"/>
                  </a:lnTo>
                  <a:lnTo>
                    <a:pt x="1408174" y="160640"/>
                  </a:lnTo>
                  <a:lnTo>
                    <a:pt x="1442765" y="185843"/>
                  </a:lnTo>
                  <a:lnTo>
                    <a:pt x="1473946" y="212419"/>
                  </a:lnTo>
                  <a:lnTo>
                    <a:pt x="1501538" y="240272"/>
                  </a:lnTo>
                  <a:lnTo>
                    <a:pt x="1545260" y="299430"/>
                  </a:lnTo>
                  <a:lnTo>
                    <a:pt x="1572524" y="362553"/>
                  </a:lnTo>
                  <a:lnTo>
                    <a:pt x="1581924" y="428879"/>
                  </a:lnTo>
                  <a:lnTo>
                    <a:pt x="1579545" y="462393"/>
                  </a:lnTo>
                  <a:lnTo>
                    <a:pt x="1561037" y="527207"/>
                  </a:lnTo>
                  <a:lnTo>
                    <a:pt x="1525369" y="588431"/>
                  </a:lnTo>
                  <a:lnTo>
                    <a:pt x="1473946" y="645305"/>
                  </a:lnTo>
                  <a:lnTo>
                    <a:pt x="1442765" y="671873"/>
                  </a:lnTo>
                  <a:lnTo>
                    <a:pt x="1408174" y="697067"/>
                  </a:lnTo>
                  <a:lnTo>
                    <a:pt x="1370347" y="720793"/>
                  </a:lnTo>
                  <a:lnTo>
                    <a:pt x="1329460" y="742955"/>
                  </a:lnTo>
                  <a:lnTo>
                    <a:pt x="1285688" y="763458"/>
                  </a:lnTo>
                  <a:lnTo>
                    <a:pt x="1239208" y="782207"/>
                  </a:lnTo>
                  <a:lnTo>
                    <a:pt x="1190196" y="799107"/>
                  </a:lnTo>
                  <a:lnTo>
                    <a:pt x="1138827" y="814062"/>
                  </a:lnTo>
                  <a:lnTo>
                    <a:pt x="1085276" y="826978"/>
                  </a:lnTo>
                  <a:lnTo>
                    <a:pt x="1029720" y="837759"/>
                  </a:lnTo>
                  <a:lnTo>
                    <a:pt x="972334" y="846310"/>
                  </a:lnTo>
                  <a:lnTo>
                    <a:pt x="913294" y="852536"/>
                  </a:lnTo>
                  <a:lnTo>
                    <a:pt x="852776" y="856341"/>
                  </a:lnTo>
                  <a:lnTo>
                    <a:pt x="790955" y="857631"/>
                  </a:lnTo>
                  <a:lnTo>
                    <a:pt x="729143" y="856341"/>
                  </a:lnTo>
                  <a:lnTo>
                    <a:pt x="668632" y="852536"/>
                  </a:lnTo>
                  <a:lnTo>
                    <a:pt x="609598" y="846310"/>
                  </a:lnTo>
                  <a:lnTo>
                    <a:pt x="552216" y="837759"/>
                  </a:lnTo>
                  <a:lnTo>
                    <a:pt x="496663" y="826978"/>
                  </a:lnTo>
                  <a:lnTo>
                    <a:pt x="443115" y="814062"/>
                  </a:lnTo>
                  <a:lnTo>
                    <a:pt x="391747" y="799107"/>
                  </a:lnTo>
                  <a:lnTo>
                    <a:pt x="342734" y="782207"/>
                  </a:lnTo>
                  <a:lnTo>
                    <a:pt x="296254" y="763458"/>
                  </a:lnTo>
                  <a:lnTo>
                    <a:pt x="252482" y="742955"/>
                  </a:lnTo>
                  <a:lnTo>
                    <a:pt x="211594" y="720793"/>
                  </a:lnTo>
                  <a:lnTo>
                    <a:pt x="173765" y="697067"/>
                  </a:lnTo>
                  <a:lnTo>
                    <a:pt x="139171" y="671873"/>
                  </a:lnTo>
                  <a:lnTo>
                    <a:pt x="107989" y="645305"/>
                  </a:lnTo>
                  <a:lnTo>
                    <a:pt x="80394" y="617460"/>
                  </a:lnTo>
                  <a:lnTo>
                    <a:pt x="36668" y="558315"/>
                  </a:lnTo>
                  <a:lnTo>
                    <a:pt x="9401" y="495201"/>
                  </a:lnTo>
                  <a:lnTo>
                    <a:pt x="0" y="428879"/>
                  </a:lnTo>
                  <a:close/>
                </a:path>
              </a:pathLst>
            </a:custGeom>
            <a:ln w="9525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659129" y="384482"/>
            <a:ext cx="62484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7625">
              <a:lnSpc>
                <a:spcPct val="100000"/>
              </a:lnSpc>
              <a:spcBef>
                <a:spcPts val="100"/>
              </a:spcBef>
            </a:pPr>
            <a:r>
              <a:rPr lang="en-IN" b="1" spc="-20" dirty="0">
                <a:latin typeface="Aptos"/>
                <a:cs typeface="Aptos"/>
              </a:rPr>
              <a:t>AGSS</a:t>
            </a:r>
            <a:endParaRPr sz="1800" b="1" dirty="0">
              <a:latin typeface="Aptos"/>
              <a:cs typeface="Aptos"/>
            </a:endParaRP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3492" rIns="0" bIns="0" rtlCol="0">
            <a:spAutoFit/>
          </a:bodyPr>
          <a:lstStyle/>
          <a:p>
            <a:pPr marL="1326515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Technical</a:t>
            </a:r>
            <a:r>
              <a:rPr spc="-125" dirty="0"/>
              <a:t> </a:t>
            </a:r>
            <a:r>
              <a:rPr spc="-10" dirty="0"/>
              <a:t>Approach</a:t>
            </a:r>
          </a:p>
        </p:txBody>
      </p:sp>
      <p:pic>
        <p:nvPicPr>
          <p:cNvPr id="4" name="object 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013233" y="32511"/>
            <a:ext cx="1824817" cy="935863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751424" y="1326660"/>
            <a:ext cx="9229725" cy="46987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lang="en-IN" sz="2400" b="1" dirty="0">
                <a:latin typeface="Calibri"/>
                <a:cs typeface="Calibri"/>
              </a:rPr>
              <a:t>Technology Stack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endParaRPr lang="en-IN" sz="2400" b="1" dirty="0">
              <a:latin typeface="Calibri"/>
              <a:cs typeface="Calibri"/>
            </a:endParaRPr>
          </a:p>
          <a:p>
            <a:pPr marL="285750" lvl="0" indent="-285750" algn="l">
              <a:buFont typeface="Arial" panose="020B0604020202020204" pitchFamily="34" charset="0"/>
              <a:buChar char="•"/>
            </a:pPr>
            <a:r>
              <a:rPr lang="en-IN" dirty="0"/>
              <a:t>Hardware: ESP32, MQ-2 Gas Sensor, DHT22 Temperature Sensor, Buzzer, and Relay Module.</a:t>
            </a:r>
          </a:p>
          <a:p>
            <a:pPr marL="285750" lvl="0" indent="-285750" algn="l">
              <a:buFont typeface="Arial" panose="020B0604020202020204" pitchFamily="34" charset="0"/>
              <a:buChar char="•"/>
            </a:pPr>
            <a:r>
              <a:rPr lang="en-IN" dirty="0"/>
              <a:t>Software &amp; Programming: Python, HTML, CSS, and JavaScript.</a:t>
            </a:r>
          </a:p>
          <a:p>
            <a:pPr marL="285750" lvl="0" indent="-285750" algn="l">
              <a:buFont typeface="Arial" panose="020B0604020202020204" pitchFamily="34" charset="0"/>
              <a:buChar char="•"/>
            </a:pPr>
            <a:r>
              <a:rPr lang="en-IN" dirty="0"/>
              <a:t>AI &amp; IoT: AI-based risk analysis, real-time monitoring dashboard, and IoT connectivity.</a:t>
            </a:r>
          </a:p>
          <a:p>
            <a:pPr lvl="0"/>
            <a:endParaRPr lang="en-IN" dirty="0"/>
          </a:p>
          <a:p>
            <a:pPr lvl="0"/>
            <a:r>
              <a:rPr lang="en-IN" sz="2400" b="1" dirty="0"/>
              <a:t>Implementation Flow</a:t>
            </a:r>
          </a:p>
          <a:p>
            <a:pPr lvl="0"/>
            <a:endParaRPr lang="en-IN" sz="2400" b="1" dirty="0"/>
          </a:p>
          <a:p>
            <a:pPr lvl="0"/>
            <a:endParaRPr lang="en-IN" sz="2400" b="1" dirty="0"/>
          </a:p>
          <a:p>
            <a:pPr lvl="0"/>
            <a:endParaRPr lang="en-IN" sz="3600" b="1" dirty="0"/>
          </a:p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endParaRPr lang="en-IN" sz="1400" b="1" dirty="0"/>
          </a:p>
          <a:p>
            <a:pPr marL="298450" indent="-28575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IN" sz="1400" b="1" dirty="0"/>
              <a:t>Gas Sensing</a:t>
            </a:r>
            <a:r>
              <a:rPr lang="en-IN" sz="1400" dirty="0"/>
              <a:t> (MQ-2 / MQ-6 Data Acquisition) ➜ </a:t>
            </a:r>
            <a:r>
              <a:rPr lang="en-IN" sz="1400" b="1" dirty="0"/>
              <a:t>Threshold Processing</a:t>
            </a:r>
            <a:r>
              <a:rPr lang="en-IN" sz="1400" dirty="0"/>
              <a:t> (ESP32 Microcontroller Signal Analysis) ➜ </a:t>
            </a:r>
            <a:r>
              <a:rPr lang="en-IN" sz="1400" b="1" dirty="0"/>
              <a:t>Safety Tripping</a:t>
            </a:r>
            <a:r>
              <a:rPr lang="en-IN" sz="1400" dirty="0"/>
              <a:t> (Solenoid Valve Cutoff &amp; Local Alarm) ➜ </a:t>
            </a:r>
            <a:r>
              <a:rPr lang="en-IN" sz="1400" b="1" dirty="0"/>
              <a:t>Cloud Telemetry</a:t>
            </a:r>
            <a:r>
              <a:rPr lang="en-IN" sz="1400" dirty="0"/>
              <a:t> (Mobile Alert &amp; Remote Dashboard Sync)</a:t>
            </a:r>
            <a:endParaRPr sz="1400" b="1" dirty="0">
              <a:latin typeface="Calibri"/>
              <a:cs typeface="Calibri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@HSC</a:t>
            </a:r>
            <a:r>
              <a:rPr spc="-35" dirty="0"/>
              <a:t> </a:t>
            </a:r>
            <a:r>
              <a:rPr dirty="0"/>
              <a:t>submission-</a:t>
            </a:r>
            <a:r>
              <a:rPr spc="-30" dirty="0"/>
              <a:t> </a:t>
            </a:r>
            <a:r>
              <a:rPr spc="-10" dirty="0"/>
              <a:t>Template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49FA26F-2852-6ED1-63A1-5C84A375AC95}"/>
              </a:ext>
            </a:extLst>
          </p:cNvPr>
          <p:cNvSpPr/>
          <p:nvPr/>
        </p:nvSpPr>
        <p:spPr>
          <a:xfrm>
            <a:off x="947584" y="4191000"/>
            <a:ext cx="1752600" cy="76200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Gas Sensing</a:t>
            </a:r>
            <a:br>
              <a:rPr lang="en-IN" sz="1000" dirty="0"/>
            </a:br>
            <a:r>
              <a:rPr lang="en-IN" sz="10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MQ-2 / MQ-6 Gas Sensor Data Acquisition</a:t>
            </a:r>
            <a:endParaRPr lang="en-IN" sz="10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A448F86-10A2-7A3E-3ABE-42E19BBD4EC1}"/>
              </a:ext>
            </a:extLst>
          </p:cNvPr>
          <p:cNvSpPr/>
          <p:nvPr/>
        </p:nvSpPr>
        <p:spPr>
          <a:xfrm>
            <a:off x="3264310" y="4191000"/>
            <a:ext cx="1676400" cy="76200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Threshold Processing</a:t>
            </a:r>
            <a:br>
              <a:rPr lang="en-IN" sz="1000" dirty="0"/>
            </a:br>
            <a:r>
              <a:rPr lang="en-IN" sz="10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ESP32 Microcontroller Signal Analysis</a:t>
            </a:r>
            <a:endParaRPr lang="en-IN" sz="10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DC77D83-4B30-65AE-B169-62C57F1F2BF7}"/>
              </a:ext>
            </a:extLst>
          </p:cNvPr>
          <p:cNvSpPr/>
          <p:nvPr/>
        </p:nvSpPr>
        <p:spPr>
          <a:xfrm>
            <a:off x="5590561" y="4191000"/>
            <a:ext cx="1676400" cy="76200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Safety Tripping</a:t>
            </a:r>
            <a:br>
              <a:rPr lang="en-IN" sz="1000" dirty="0"/>
            </a:br>
            <a:r>
              <a:rPr lang="en-IN" sz="10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Solenoid Valve Cutoff &amp; Local Alarm</a:t>
            </a:r>
            <a:endParaRPr lang="en-IN" sz="10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3A067A0-A73A-3972-92F5-8AE1AF39A77D}"/>
              </a:ext>
            </a:extLst>
          </p:cNvPr>
          <p:cNvSpPr/>
          <p:nvPr/>
        </p:nvSpPr>
        <p:spPr>
          <a:xfrm>
            <a:off x="7880556" y="4191000"/>
            <a:ext cx="1676400" cy="76200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Cloud Telemetry</a:t>
            </a:r>
            <a:br>
              <a:rPr lang="en-IN" sz="1000" dirty="0"/>
            </a:br>
            <a:r>
              <a:rPr lang="en-IN" sz="10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Mobile Alert &amp; Remote Dashboard Sync</a:t>
            </a:r>
            <a:endParaRPr lang="en-IN" sz="1000" dirty="0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31A7FAEF-7F15-7675-A94F-9E844522CDF5}"/>
              </a:ext>
            </a:extLst>
          </p:cNvPr>
          <p:cNvSpPr/>
          <p:nvPr/>
        </p:nvSpPr>
        <p:spPr>
          <a:xfrm>
            <a:off x="2794820" y="4515464"/>
            <a:ext cx="424016" cy="152400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476F853E-9EE3-E53D-0C25-241A381DAB6A}"/>
              </a:ext>
            </a:extLst>
          </p:cNvPr>
          <p:cNvSpPr/>
          <p:nvPr/>
        </p:nvSpPr>
        <p:spPr>
          <a:xfrm>
            <a:off x="5080820" y="4517922"/>
            <a:ext cx="424016" cy="152400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0A25B3B7-456C-1020-7576-90B1F0CB8EE9}"/>
              </a:ext>
            </a:extLst>
          </p:cNvPr>
          <p:cNvSpPr/>
          <p:nvPr/>
        </p:nvSpPr>
        <p:spPr>
          <a:xfrm>
            <a:off x="7352686" y="4564626"/>
            <a:ext cx="424016" cy="152400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5"/>
          <p:cNvGrpSpPr/>
          <p:nvPr/>
        </p:nvGrpSpPr>
        <p:grpSpPr>
          <a:xfrm>
            <a:off x="144771" y="124951"/>
            <a:ext cx="1654175" cy="930275"/>
            <a:chOff x="144771" y="124951"/>
            <a:chExt cx="1654175" cy="93027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4771" y="124951"/>
              <a:ext cx="1653556" cy="92968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3776" y="205727"/>
              <a:ext cx="966203" cy="83516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2994" y="143510"/>
              <a:ext cx="1581924" cy="857631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82994" y="143510"/>
              <a:ext cx="1582420" cy="857885"/>
            </a:xfrm>
            <a:custGeom>
              <a:avLst/>
              <a:gdLst/>
              <a:ahLst/>
              <a:cxnLst/>
              <a:rect l="l" t="t" r="r" b="b"/>
              <a:pathLst>
                <a:path w="1582420" h="857885">
                  <a:moveTo>
                    <a:pt x="0" y="428879"/>
                  </a:moveTo>
                  <a:lnTo>
                    <a:pt x="9401" y="362553"/>
                  </a:lnTo>
                  <a:lnTo>
                    <a:pt x="36668" y="299430"/>
                  </a:lnTo>
                  <a:lnTo>
                    <a:pt x="80394" y="240272"/>
                  </a:lnTo>
                  <a:lnTo>
                    <a:pt x="107989" y="212419"/>
                  </a:lnTo>
                  <a:lnTo>
                    <a:pt x="139171" y="185843"/>
                  </a:lnTo>
                  <a:lnTo>
                    <a:pt x="173765" y="160640"/>
                  </a:lnTo>
                  <a:lnTo>
                    <a:pt x="211594" y="136905"/>
                  </a:lnTo>
                  <a:lnTo>
                    <a:pt x="252482" y="114734"/>
                  </a:lnTo>
                  <a:lnTo>
                    <a:pt x="296254" y="94222"/>
                  </a:lnTo>
                  <a:lnTo>
                    <a:pt x="342734" y="75464"/>
                  </a:lnTo>
                  <a:lnTo>
                    <a:pt x="391747" y="58556"/>
                  </a:lnTo>
                  <a:lnTo>
                    <a:pt x="443115" y="43593"/>
                  </a:lnTo>
                  <a:lnTo>
                    <a:pt x="496663" y="30670"/>
                  </a:lnTo>
                  <a:lnTo>
                    <a:pt x="552216" y="19883"/>
                  </a:lnTo>
                  <a:lnTo>
                    <a:pt x="609598" y="11327"/>
                  </a:lnTo>
                  <a:lnTo>
                    <a:pt x="668632" y="5097"/>
                  </a:lnTo>
                  <a:lnTo>
                    <a:pt x="729143" y="1290"/>
                  </a:lnTo>
                  <a:lnTo>
                    <a:pt x="790955" y="0"/>
                  </a:lnTo>
                  <a:lnTo>
                    <a:pt x="852776" y="1290"/>
                  </a:lnTo>
                  <a:lnTo>
                    <a:pt x="913294" y="5097"/>
                  </a:lnTo>
                  <a:lnTo>
                    <a:pt x="972334" y="11327"/>
                  </a:lnTo>
                  <a:lnTo>
                    <a:pt x="1029720" y="19883"/>
                  </a:lnTo>
                  <a:lnTo>
                    <a:pt x="1085276" y="30670"/>
                  </a:lnTo>
                  <a:lnTo>
                    <a:pt x="1138827" y="43593"/>
                  </a:lnTo>
                  <a:lnTo>
                    <a:pt x="1190196" y="58556"/>
                  </a:lnTo>
                  <a:lnTo>
                    <a:pt x="1239208" y="75464"/>
                  </a:lnTo>
                  <a:lnTo>
                    <a:pt x="1285688" y="94222"/>
                  </a:lnTo>
                  <a:lnTo>
                    <a:pt x="1329460" y="114734"/>
                  </a:lnTo>
                  <a:lnTo>
                    <a:pt x="1370347" y="136905"/>
                  </a:lnTo>
                  <a:lnTo>
                    <a:pt x="1408174" y="160640"/>
                  </a:lnTo>
                  <a:lnTo>
                    <a:pt x="1442765" y="185843"/>
                  </a:lnTo>
                  <a:lnTo>
                    <a:pt x="1473946" y="212419"/>
                  </a:lnTo>
                  <a:lnTo>
                    <a:pt x="1501538" y="240272"/>
                  </a:lnTo>
                  <a:lnTo>
                    <a:pt x="1545260" y="299430"/>
                  </a:lnTo>
                  <a:lnTo>
                    <a:pt x="1572524" y="362553"/>
                  </a:lnTo>
                  <a:lnTo>
                    <a:pt x="1581924" y="428879"/>
                  </a:lnTo>
                  <a:lnTo>
                    <a:pt x="1579545" y="462393"/>
                  </a:lnTo>
                  <a:lnTo>
                    <a:pt x="1561037" y="527207"/>
                  </a:lnTo>
                  <a:lnTo>
                    <a:pt x="1525369" y="588431"/>
                  </a:lnTo>
                  <a:lnTo>
                    <a:pt x="1473946" y="645305"/>
                  </a:lnTo>
                  <a:lnTo>
                    <a:pt x="1442765" y="671873"/>
                  </a:lnTo>
                  <a:lnTo>
                    <a:pt x="1408174" y="697067"/>
                  </a:lnTo>
                  <a:lnTo>
                    <a:pt x="1370347" y="720793"/>
                  </a:lnTo>
                  <a:lnTo>
                    <a:pt x="1329460" y="742955"/>
                  </a:lnTo>
                  <a:lnTo>
                    <a:pt x="1285688" y="763458"/>
                  </a:lnTo>
                  <a:lnTo>
                    <a:pt x="1239208" y="782207"/>
                  </a:lnTo>
                  <a:lnTo>
                    <a:pt x="1190196" y="799107"/>
                  </a:lnTo>
                  <a:lnTo>
                    <a:pt x="1138827" y="814062"/>
                  </a:lnTo>
                  <a:lnTo>
                    <a:pt x="1085276" y="826978"/>
                  </a:lnTo>
                  <a:lnTo>
                    <a:pt x="1029720" y="837759"/>
                  </a:lnTo>
                  <a:lnTo>
                    <a:pt x="972334" y="846310"/>
                  </a:lnTo>
                  <a:lnTo>
                    <a:pt x="913294" y="852536"/>
                  </a:lnTo>
                  <a:lnTo>
                    <a:pt x="852776" y="856341"/>
                  </a:lnTo>
                  <a:lnTo>
                    <a:pt x="790955" y="857631"/>
                  </a:lnTo>
                  <a:lnTo>
                    <a:pt x="729143" y="856341"/>
                  </a:lnTo>
                  <a:lnTo>
                    <a:pt x="668632" y="852536"/>
                  </a:lnTo>
                  <a:lnTo>
                    <a:pt x="609598" y="846310"/>
                  </a:lnTo>
                  <a:lnTo>
                    <a:pt x="552216" y="837759"/>
                  </a:lnTo>
                  <a:lnTo>
                    <a:pt x="496663" y="826978"/>
                  </a:lnTo>
                  <a:lnTo>
                    <a:pt x="443115" y="814062"/>
                  </a:lnTo>
                  <a:lnTo>
                    <a:pt x="391747" y="799107"/>
                  </a:lnTo>
                  <a:lnTo>
                    <a:pt x="342734" y="782207"/>
                  </a:lnTo>
                  <a:lnTo>
                    <a:pt x="296254" y="763458"/>
                  </a:lnTo>
                  <a:lnTo>
                    <a:pt x="252482" y="742955"/>
                  </a:lnTo>
                  <a:lnTo>
                    <a:pt x="211594" y="720793"/>
                  </a:lnTo>
                  <a:lnTo>
                    <a:pt x="173765" y="697067"/>
                  </a:lnTo>
                  <a:lnTo>
                    <a:pt x="139171" y="671873"/>
                  </a:lnTo>
                  <a:lnTo>
                    <a:pt x="107989" y="645305"/>
                  </a:lnTo>
                  <a:lnTo>
                    <a:pt x="80394" y="617460"/>
                  </a:lnTo>
                  <a:lnTo>
                    <a:pt x="36668" y="558315"/>
                  </a:lnTo>
                  <a:lnTo>
                    <a:pt x="9401" y="495201"/>
                  </a:lnTo>
                  <a:lnTo>
                    <a:pt x="0" y="428879"/>
                  </a:lnTo>
                  <a:close/>
                </a:path>
              </a:pathLst>
            </a:custGeom>
            <a:ln w="9525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659129" y="355530"/>
            <a:ext cx="62484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7625">
              <a:lnSpc>
                <a:spcPct val="100000"/>
              </a:lnSpc>
              <a:spcBef>
                <a:spcPts val="100"/>
              </a:spcBef>
            </a:pPr>
            <a:r>
              <a:rPr lang="en-IN" b="1" spc="-20" dirty="0">
                <a:latin typeface="Aptos"/>
                <a:cs typeface="Aptos"/>
              </a:rPr>
              <a:t>AGSS</a:t>
            </a:r>
            <a:endParaRPr sz="1800" b="1" dirty="0">
              <a:latin typeface="Aptos"/>
              <a:cs typeface="Aptos"/>
            </a:endParaRP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6197" rIns="0" bIns="0" rtlCol="0">
            <a:spAutoFit/>
          </a:bodyPr>
          <a:lstStyle/>
          <a:p>
            <a:pPr marL="1700530">
              <a:lnSpc>
                <a:spcPct val="100000"/>
              </a:lnSpc>
              <a:spcBef>
                <a:spcPts val="100"/>
              </a:spcBef>
            </a:pPr>
            <a:r>
              <a:rPr dirty="0"/>
              <a:t>Impact</a:t>
            </a:r>
            <a:r>
              <a:rPr spc="-30" dirty="0"/>
              <a:t> </a:t>
            </a:r>
            <a:r>
              <a:rPr spc="-10" dirty="0"/>
              <a:t>Potential</a:t>
            </a:r>
          </a:p>
        </p:txBody>
      </p:sp>
      <p:pic>
        <p:nvPicPr>
          <p:cNvPr id="4" name="object 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013233" y="32511"/>
            <a:ext cx="1824817" cy="935863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838200" y="1403481"/>
            <a:ext cx="10894060" cy="52296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lang="en-IN" sz="2400" b="1" dirty="0">
                <a:latin typeface="Aptos"/>
                <a:cs typeface="Aptos"/>
              </a:rPr>
              <a:t>Target</a:t>
            </a:r>
            <a:r>
              <a:rPr lang="en-IN" sz="2400" b="1" spc="-65" dirty="0">
                <a:latin typeface="Aptos"/>
                <a:cs typeface="Aptos"/>
              </a:rPr>
              <a:t> </a:t>
            </a:r>
            <a:r>
              <a:rPr lang="en-IN" sz="2400" b="1" spc="-10" dirty="0">
                <a:latin typeface="Aptos"/>
                <a:cs typeface="Aptos"/>
              </a:rPr>
              <a:t>Audience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lang="en-IN" dirty="0"/>
              <a:t>The target audience for the Advanced Gas Safety Sensor (AGSS) includes households, hotels, restaurants, and commercial kitchens that use LPG </a:t>
            </a:r>
            <a:r>
              <a:rPr lang="en-IN" dirty="0" err="1"/>
              <a:t>gas.It</a:t>
            </a:r>
            <a:r>
              <a:rPr lang="en-IN" dirty="0"/>
              <a:t> is designed for industries, factories, and other workplaces where gas leakage can cause serious </a:t>
            </a:r>
            <a:r>
              <a:rPr lang="en-IN" dirty="0" err="1"/>
              <a:t>accidents.The</a:t>
            </a:r>
            <a:r>
              <a:rPr lang="en-IN" dirty="0"/>
              <a:t> system helps protect lives and property through early gas-leak detection, instant alerts, and automatic gas shut-off.</a:t>
            </a:r>
            <a:endParaRPr lang="en-IN" spc="-10" dirty="0">
              <a:latin typeface="Aptos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endParaRPr lang="en-IN" sz="2400" spc="-10" dirty="0">
              <a:latin typeface="Aptos"/>
              <a:cs typeface="Aptos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lang="en-IN" sz="2400" b="1" spc="-10" dirty="0">
                <a:latin typeface="Aptos"/>
                <a:cs typeface="Aptos"/>
              </a:rPr>
              <a:t>Potential</a:t>
            </a:r>
            <a:r>
              <a:rPr lang="en-IN" sz="2400" b="1" spc="-55" dirty="0">
                <a:latin typeface="Aptos"/>
                <a:cs typeface="Aptos"/>
              </a:rPr>
              <a:t> </a:t>
            </a:r>
            <a:r>
              <a:rPr lang="en-IN" sz="2400" b="1" dirty="0">
                <a:latin typeface="Aptos"/>
                <a:cs typeface="Aptos"/>
              </a:rPr>
              <a:t>impact</a:t>
            </a:r>
            <a:endParaRPr lang="en-IN" sz="2400" b="1" spc="-10" dirty="0">
              <a:latin typeface="Aptos"/>
              <a:cs typeface="Aptos"/>
            </a:endParaRPr>
          </a:p>
          <a:p>
            <a:pPr lvl="0"/>
            <a:r>
              <a:rPr lang="en-IN" dirty="0"/>
              <a:t>Detects gas leaks early and helps prevent fires, explosions, and loss of </a:t>
            </a:r>
            <a:r>
              <a:rPr lang="en-IN" dirty="0" err="1"/>
              <a:t>life.Provides</a:t>
            </a:r>
            <a:r>
              <a:rPr lang="en-IN" dirty="0"/>
              <a:t> instant alerts and automatic gas shut-off to improve safety in homes, industries, and commercial </a:t>
            </a:r>
            <a:r>
              <a:rPr lang="en-IN" dirty="0" err="1"/>
              <a:t>kitchens.Reduces</a:t>
            </a:r>
            <a:r>
              <a:rPr lang="en-IN" dirty="0"/>
              <a:t> property damage, protects the environment, and promotes safer communities through AI-powered gas monitoring.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endParaRPr lang="en-IN" sz="2400" spc="-10" dirty="0">
              <a:latin typeface="Aptos"/>
              <a:cs typeface="Aptos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lang="en-IN" sz="2400" b="1" spc="-10" dirty="0">
                <a:latin typeface="Aptos"/>
                <a:cs typeface="Aptos"/>
              </a:rPr>
              <a:t>Relevant</a:t>
            </a:r>
            <a:r>
              <a:rPr lang="en-IN" sz="2400" spc="-10" dirty="0">
                <a:latin typeface="Aptos"/>
                <a:cs typeface="Aptos"/>
              </a:rPr>
              <a:t> </a:t>
            </a:r>
            <a:r>
              <a:rPr lang="en-IN" sz="2400" b="1" spc="-10" dirty="0">
                <a:latin typeface="Aptos"/>
                <a:cs typeface="Aptos"/>
              </a:rPr>
              <a:t>UN SDGs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1600" dirty="0"/>
              <a:t>SDG 3 – Good Health and Well-being: Prevents gas-related accidents and protects human lives.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1600" dirty="0"/>
              <a:t>SDG 9 – Industry, Innovation and Infrastructure: Promotes AI-powered gas detection and smart safety technology.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1600" dirty="0"/>
              <a:t>SDG 11 – Sustainable Cities and Communities: Improves safety in homes, workplaces, and communities by reducing gas-leak hazards.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endParaRPr lang="en-IN" sz="2400" b="1" spc="-10" dirty="0">
              <a:latin typeface="Aptos"/>
              <a:cs typeface="Aptos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@HSC</a:t>
            </a:r>
            <a:r>
              <a:rPr spc="-35" dirty="0"/>
              <a:t> </a:t>
            </a:r>
            <a:r>
              <a:rPr dirty="0"/>
              <a:t>submission-</a:t>
            </a:r>
            <a:r>
              <a:rPr spc="-30" dirty="0"/>
              <a:t> </a:t>
            </a:r>
            <a:r>
              <a:rPr spc="-10" dirty="0"/>
              <a:t>Template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5"/>
          <p:cNvGrpSpPr/>
          <p:nvPr/>
        </p:nvGrpSpPr>
        <p:grpSpPr>
          <a:xfrm>
            <a:off x="160070" y="111378"/>
            <a:ext cx="1654175" cy="930275"/>
            <a:chOff x="144771" y="124951"/>
            <a:chExt cx="1654175" cy="93027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4771" y="124951"/>
              <a:ext cx="1653556" cy="92968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3776" y="205727"/>
              <a:ext cx="966203" cy="83516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2994" y="143510"/>
              <a:ext cx="1581924" cy="857631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82994" y="143510"/>
              <a:ext cx="1582420" cy="857885"/>
            </a:xfrm>
            <a:custGeom>
              <a:avLst/>
              <a:gdLst/>
              <a:ahLst/>
              <a:cxnLst/>
              <a:rect l="l" t="t" r="r" b="b"/>
              <a:pathLst>
                <a:path w="1582420" h="857885">
                  <a:moveTo>
                    <a:pt x="0" y="428879"/>
                  </a:moveTo>
                  <a:lnTo>
                    <a:pt x="9401" y="362553"/>
                  </a:lnTo>
                  <a:lnTo>
                    <a:pt x="36668" y="299430"/>
                  </a:lnTo>
                  <a:lnTo>
                    <a:pt x="80394" y="240272"/>
                  </a:lnTo>
                  <a:lnTo>
                    <a:pt x="107989" y="212419"/>
                  </a:lnTo>
                  <a:lnTo>
                    <a:pt x="139171" y="185843"/>
                  </a:lnTo>
                  <a:lnTo>
                    <a:pt x="173765" y="160640"/>
                  </a:lnTo>
                  <a:lnTo>
                    <a:pt x="211594" y="136905"/>
                  </a:lnTo>
                  <a:lnTo>
                    <a:pt x="252482" y="114734"/>
                  </a:lnTo>
                  <a:lnTo>
                    <a:pt x="296254" y="94222"/>
                  </a:lnTo>
                  <a:lnTo>
                    <a:pt x="342734" y="75464"/>
                  </a:lnTo>
                  <a:lnTo>
                    <a:pt x="391747" y="58556"/>
                  </a:lnTo>
                  <a:lnTo>
                    <a:pt x="443115" y="43593"/>
                  </a:lnTo>
                  <a:lnTo>
                    <a:pt x="496663" y="30670"/>
                  </a:lnTo>
                  <a:lnTo>
                    <a:pt x="552216" y="19883"/>
                  </a:lnTo>
                  <a:lnTo>
                    <a:pt x="609598" y="11327"/>
                  </a:lnTo>
                  <a:lnTo>
                    <a:pt x="668632" y="5097"/>
                  </a:lnTo>
                  <a:lnTo>
                    <a:pt x="729143" y="1290"/>
                  </a:lnTo>
                  <a:lnTo>
                    <a:pt x="790955" y="0"/>
                  </a:lnTo>
                  <a:lnTo>
                    <a:pt x="852776" y="1290"/>
                  </a:lnTo>
                  <a:lnTo>
                    <a:pt x="913294" y="5097"/>
                  </a:lnTo>
                  <a:lnTo>
                    <a:pt x="972334" y="11327"/>
                  </a:lnTo>
                  <a:lnTo>
                    <a:pt x="1029720" y="19883"/>
                  </a:lnTo>
                  <a:lnTo>
                    <a:pt x="1085276" y="30670"/>
                  </a:lnTo>
                  <a:lnTo>
                    <a:pt x="1138827" y="43593"/>
                  </a:lnTo>
                  <a:lnTo>
                    <a:pt x="1190196" y="58556"/>
                  </a:lnTo>
                  <a:lnTo>
                    <a:pt x="1239208" y="75464"/>
                  </a:lnTo>
                  <a:lnTo>
                    <a:pt x="1285688" y="94222"/>
                  </a:lnTo>
                  <a:lnTo>
                    <a:pt x="1329460" y="114734"/>
                  </a:lnTo>
                  <a:lnTo>
                    <a:pt x="1370347" y="136905"/>
                  </a:lnTo>
                  <a:lnTo>
                    <a:pt x="1408174" y="160640"/>
                  </a:lnTo>
                  <a:lnTo>
                    <a:pt x="1442765" y="185843"/>
                  </a:lnTo>
                  <a:lnTo>
                    <a:pt x="1473946" y="212419"/>
                  </a:lnTo>
                  <a:lnTo>
                    <a:pt x="1501538" y="240272"/>
                  </a:lnTo>
                  <a:lnTo>
                    <a:pt x="1545260" y="299430"/>
                  </a:lnTo>
                  <a:lnTo>
                    <a:pt x="1572524" y="362553"/>
                  </a:lnTo>
                  <a:lnTo>
                    <a:pt x="1581924" y="428879"/>
                  </a:lnTo>
                  <a:lnTo>
                    <a:pt x="1579545" y="462393"/>
                  </a:lnTo>
                  <a:lnTo>
                    <a:pt x="1561037" y="527207"/>
                  </a:lnTo>
                  <a:lnTo>
                    <a:pt x="1525369" y="588431"/>
                  </a:lnTo>
                  <a:lnTo>
                    <a:pt x="1473946" y="645305"/>
                  </a:lnTo>
                  <a:lnTo>
                    <a:pt x="1442765" y="671873"/>
                  </a:lnTo>
                  <a:lnTo>
                    <a:pt x="1408174" y="697067"/>
                  </a:lnTo>
                  <a:lnTo>
                    <a:pt x="1370347" y="720793"/>
                  </a:lnTo>
                  <a:lnTo>
                    <a:pt x="1329460" y="742955"/>
                  </a:lnTo>
                  <a:lnTo>
                    <a:pt x="1285688" y="763458"/>
                  </a:lnTo>
                  <a:lnTo>
                    <a:pt x="1239208" y="782207"/>
                  </a:lnTo>
                  <a:lnTo>
                    <a:pt x="1190196" y="799107"/>
                  </a:lnTo>
                  <a:lnTo>
                    <a:pt x="1138827" y="814062"/>
                  </a:lnTo>
                  <a:lnTo>
                    <a:pt x="1085276" y="826978"/>
                  </a:lnTo>
                  <a:lnTo>
                    <a:pt x="1029720" y="837759"/>
                  </a:lnTo>
                  <a:lnTo>
                    <a:pt x="972334" y="846310"/>
                  </a:lnTo>
                  <a:lnTo>
                    <a:pt x="913294" y="852536"/>
                  </a:lnTo>
                  <a:lnTo>
                    <a:pt x="852776" y="856341"/>
                  </a:lnTo>
                  <a:lnTo>
                    <a:pt x="790955" y="857631"/>
                  </a:lnTo>
                  <a:lnTo>
                    <a:pt x="729143" y="856341"/>
                  </a:lnTo>
                  <a:lnTo>
                    <a:pt x="668632" y="852536"/>
                  </a:lnTo>
                  <a:lnTo>
                    <a:pt x="609598" y="846310"/>
                  </a:lnTo>
                  <a:lnTo>
                    <a:pt x="552216" y="837759"/>
                  </a:lnTo>
                  <a:lnTo>
                    <a:pt x="496663" y="826978"/>
                  </a:lnTo>
                  <a:lnTo>
                    <a:pt x="443115" y="814062"/>
                  </a:lnTo>
                  <a:lnTo>
                    <a:pt x="391747" y="799107"/>
                  </a:lnTo>
                  <a:lnTo>
                    <a:pt x="342734" y="782207"/>
                  </a:lnTo>
                  <a:lnTo>
                    <a:pt x="296254" y="763458"/>
                  </a:lnTo>
                  <a:lnTo>
                    <a:pt x="252482" y="742955"/>
                  </a:lnTo>
                  <a:lnTo>
                    <a:pt x="211594" y="720793"/>
                  </a:lnTo>
                  <a:lnTo>
                    <a:pt x="173765" y="697067"/>
                  </a:lnTo>
                  <a:lnTo>
                    <a:pt x="139171" y="671873"/>
                  </a:lnTo>
                  <a:lnTo>
                    <a:pt x="107989" y="645305"/>
                  </a:lnTo>
                  <a:lnTo>
                    <a:pt x="80394" y="617460"/>
                  </a:lnTo>
                  <a:lnTo>
                    <a:pt x="36668" y="558315"/>
                  </a:lnTo>
                  <a:lnTo>
                    <a:pt x="9401" y="495201"/>
                  </a:lnTo>
                  <a:lnTo>
                    <a:pt x="0" y="428879"/>
                  </a:lnTo>
                  <a:close/>
                </a:path>
              </a:pathLst>
            </a:custGeom>
            <a:ln w="9525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661517" y="384482"/>
            <a:ext cx="62484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7625">
              <a:lnSpc>
                <a:spcPct val="100000"/>
              </a:lnSpc>
              <a:spcBef>
                <a:spcPts val="100"/>
              </a:spcBef>
            </a:pPr>
            <a:r>
              <a:rPr lang="en-IN" b="1" spc="-20" dirty="0">
                <a:latin typeface="Aptos"/>
                <a:cs typeface="Aptos"/>
              </a:rPr>
              <a:t>AGSS</a:t>
            </a:r>
            <a:endParaRPr sz="1800" b="1" dirty="0">
              <a:latin typeface="Aptos"/>
              <a:cs typeface="Aptos"/>
            </a:endParaRP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5341" rIns="0" bIns="0" rtlCol="0">
            <a:spAutoFit/>
          </a:bodyPr>
          <a:lstStyle/>
          <a:p>
            <a:pPr marL="678815">
              <a:lnSpc>
                <a:spcPct val="100000"/>
              </a:lnSpc>
              <a:spcBef>
                <a:spcPts val="100"/>
              </a:spcBef>
            </a:pPr>
            <a:r>
              <a:rPr dirty="0"/>
              <a:t>Feasibility</a:t>
            </a:r>
            <a:r>
              <a:rPr spc="-95" dirty="0"/>
              <a:t> </a:t>
            </a:r>
            <a:r>
              <a:rPr dirty="0"/>
              <a:t>and</a:t>
            </a:r>
            <a:r>
              <a:rPr spc="-80" dirty="0"/>
              <a:t> </a:t>
            </a:r>
            <a:r>
              <a:rPr dirty="0"/>
              <a:t>Risk</a:t>
            </a:r>
            <a:r>
              <a:rPr spc="-100" dirty="0"/>
              <a:t> </a:t>
            </a:r>
            <a:r>
              <a:rPr spc="-10" dirty="0"/>
              <a:t>Analysis</a:t>
            </a:r>
          </a:p>
        </p:txBody>
      </p:sp>
      <p:pic>
        <p:nvPicPr>
          <p:cNvPr id="4" name="object 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013233" y="32511"/>
            <a:ext cx="1824817" cy="935863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66433" y="1239691"/>
            <a:ext cx="10894060" cy="70942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lang="en-IN" sz="2400" b="1" spc="-10" dirty="0">
                <a:latin typeface="Aptos"/>
                <a:cs typeface="Aptos"/>
              </a:rPr>
              <a:t>Feasibility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endParaRPr lang="en-IN" sz="2400" b="1" dirty="0">
              <a:latin typeface="Aptos"/>
              <a:cs typeface="Aptos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IN" sz="1600" dirty="0"/>
              <a:t>Technical Feasibility: Uses affordable MQ-2 gas sensors, DHT22, ESP32, and AI-based monitoring for gas-leak detection and alerts.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1600" dirty="0"/>
              <a:t>Economic Feasibility: Uses low-cost, readily available components, making the system affordable for homes, hotels, and industries.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1600" dirty="0"/>
              <a:t>Operational Feasibility: Provides real-time monitoring, instant alerts, and automatic gas shut-off to improve safety and ease of use.</a:t>
            </a:r>
          </a:p>
          <a:p>
            <a:pPr marL="342900" lvl="0" indent="-342900">
              <a:buFont typeface="+mj-lt"/>
              <a:buAutoNum type="arabicPeriod"/>
            </a:pPr>
            <a:endParaRPr lang="en-IN" sz="1600" dirty="0"/>
          </a:p>
          <a:p>
            <a:pPr lvl="0"/>
            <a:r>
              <a:rPr lang="en-IN" sz="2400" b="1" dirty="0"/>
              <a:t>Risks and Mitigation</a:t>
            </a:r>
          </a:p>
          <a:p>
            <a:pPr lvl="0"/>
            <a:endParaRPr lang="en-IN" sz="2400" b="1" dirty="0"/>
          </a:p>
          <a:p>
            <a:pPr marL="342900" lvl="0" indent="-342900">
              <a:buFont typeface="+mj-lt"/>
              <a:buAutoNum type="arabicPeriod"/>
            </a:pPr>
            <a:r>
              <a:rPr lang="en-IN" sz="1600" dirty="0"/>
              <a:t>False Alarms: Use proper sensor calibration and AI-based risk analysis to improve detection accuracy.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1600" dirty="0"/>
              <a:t>Sensor or Internet Failure: Provide regular maintenance, system health checks, and local buzzer alerts even when internet connectivity is lost.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1600" dirty="0"/>
              <a:t>Power Failure: Use a backup power supply to maintain continuous monitoring.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1600" dirty="0"/>
              <a:t>Automatic Shut-off Failure: Use a reliable gas-rated shut-off valve and test it regularly to ensure safe operation.</a:t>
            </a:r>
          </a:p>
          <a:p>
            <a:pPr lvl="0"/>
            <a:endParaRPr lang="en-IN" sz="2400" b="1" dirty="0"/>
          </a:p>
          <a:p>
            <a:pPr marL="469900" indent="-457200">
              <a:lnSpc>
                <a:spcPct val="100000"/>
              </a:lnSpc>
              <a:spcBef>
                <a:spcPts val="100"/>
              </a:spcBef>
              <a:buFont typeface="+mj-lt"/>
              <a:buAutoNum type="arabicPeriod"/>
              <a:tabLst>
                <a:tab pos="354965" algn="l"/>
              </a:tabLst>
            </a:pPr>
            <a:endParaRPr lang="en-IN" sz="2400" dirty="0">
              <a:latin typeface="Aptos"/>
              <a:cs typeface="Aptos"/>
            </a:endParaRPr>
          </a:p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</a:tabLst>
            </a:pPr>
            <a:endParaRPr lang="en-IN" sz="2400" dirty="0">
              <a:latin typeface="Aptos"/>
              <a:cs typeface="Aptos"/>
            </a:endParaRPr>
          </a:p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</a:tabLst>
            </a:pPr>
            <a:endParaRPr lang="en-IN" sz="2400" dirty="0">
              <a:latin typeface="Aptos"/>
              <a:cs typeface="Aptos"/>
            </a:endParaRPr>
          </a:p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</a:tabLst>
            </a:pPr>
            <a:r>
              <a:rPr sz="2400" dirty="0">
                <a:latin typeface="Aptos"/>
                <a:cs typeface="Aptos"/>
              </a:rPr>
              <a:t>Analysis</a:t>
            </a:r>
            <a:r>
              <a:rPr sz="2400" spc="-45" dirty="0">
                <a:latin typeface="Aptos"/>
                <a:cs typeface="Aptos"/>
              </a:rPr>
              <a:t> </a:t>
            </a:r>
            <a:r>
              <a:rPr sz="2400" dirty="0">
                <a:latin typeface="Aptos"/>
                <a:cs typeface="Aptos"/>
              </a:rPr>
              <a:t>of</a:t>
            </a:r>
            <a:r>
              <a:rPr sz="2400" spc="-15" dirty="0">
                <a:latin typeface="Aptos"/>
                <a:cs typeface="Aptos"/>
              </a:rPr>
              <a:t> </a:t>
            </a:r>
            <a:r>
              <a:rPr sz="2400" dirty="0">
                <a:latin typeface="Aptos"/>
                <a:cs typeface="Aptos"/>
              </a:rPr>
              <a:t>the</a:t>
            </a:r>
            <a:r>
              <a:rPr sz="2400" spc="-30" dirty="0">
                <a:latin typeface="Aptos"/>
                <a:cs typeface="Aptos"/>
              </a:rPr>
              <a:t> </a:t>
            </a:r>
            <a:r>
              <a:rPr sz="2400" spc="-10" dirty="0">
                <a:latin typeface="Aptos"/>
                <a:cs typeface="Aptos"/>
              </a:rPr>
              <a:t>feasibility </a:t>
            </a:r>
            <a:r>
              <a:rPr sz="2400" dirty="0">
                <a:latin typeface="Aptos"/>
                <a:cs typeface="Aptos"/>
              </a:rPr>
              <a:t>of</a:t>
            </a:r>
            <a:r>
              <a:rPr sz="2400" spc="-25" dirty="0">
                <a:latin typeface="Aptos"/>
                <a:cs typeface="Aptos"/>
              </a:rPr>
              <a:t> </a:t>
            </a:r>
            <a:r>
              <a:rPr sz="2400" dirty="0">
                <a:latin typeface="Aptos"/>
                <a:cs typeface="Aptos"/>
              </a:rPr>
              <a:t>the</a:t>
            </a:r>
            <a:r>
              <a:rPr sz="2400" spc="-35" dirty="0">
                <a:latin typeface="Aptos"/>
                <a:cs typeface="Aptos"/>
              </a:rPr>
              <a:t> </a:t>
            </a:r>
            <a:r>
              <a:rPr sz="2400" spc="-10" dirty="0">
                <a:latin typeface="Aptos"/>
                <a:cs typeface="Aptos"/>
              </a:rPr>
              <a:t>solution</a:t>
            </a:r>
            <a:endParaRPr sz="2400" dirty="0">
              <a:latin typeface="Aptos"/>
              <a:cs typeface="Aptos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354965" algn="l"/>
              </a:tabLst>
            </a:pPr>
            <a:r>
              <a:rPr sz="2400" spc="-10" dirty="0">
                <a:latin typeface="Aptos"/>
                <a:cs typeface="Aptos"/>
              </a:rPr>
              <a:t>Potential</a:t>
            </a:r>
            <a:r>
              <a:rPr sz="2400" spc="-95" dirty="0">
                <a:latin typeface="Aptos"/>
                <a:cs typeface="Aptos"/>
              </a:rPr>
              <a:t> </a:t>
            </a:r>
            <a:r>
              <a:rPr sz="2400" dirty="0">
                <a:latin typeface="Aptos"/>
                <a:cs typeface="Aptos"/>
              </a:rPr>
              <a:t>challenges</a:t>
            </a:r>
            <a:r>
              <a:rPr sz="2400" spc="-80" dirty="0">
                <a:latin typeface="Aptos"/>
                <a:cs typeface="Aptos"/>
              </a:rPr>
              <a:t> </a:t>
            </a:r>
            <a:r>
              <a:rPr sz="2400" dirty="0">
                <a:latin typeface="Aptos"/>
                <a:cs typeface="Aptos"/>
              </a:rPr>
              <a:t>and</a:t>
            </a:r>
            <a:r>
              <a:rPr sz="2400" spc="-80" dirty="0">
                <a:latin typeface="Aptos"/>
                <a:cs typeface="Aptos"/>
              </a:rPr>
              <a:t> </a:t>
            </a:r>
            <a:r>
              <a:rPr sz="2400" spc="-10" dirty="0">
                <a:latin typeface="Aptos"/>
                <a:cs typeface="Aptos"/>
              </a:rPr>
              <a:t>risks</a:t>
            </a:r>
            <a:endParaRPr sz="2400" dirty="0">
              <a:latin typeface="Aptos"/>
              <a:cs typeface="Aptos"/>
            </a:endParaRPr>
          </a:p>
          <a:p>
            <a:pPr marL="354965" indent="-342265">
              <a:lnSpc>
                <a:spcPct val="100000"/>
              </a:lnSpc>
              <a:buFont typeface="Arial"/>
              <a:buChar char="•"/>
              <a:tabLst>
                <a:tab pos="354965" algn="l"/>
              </a:tabLst>
            </a:pPr>
            <a:r>
              <a:rPr sz="2400" spc="-10" dirty="0">
                <a:latin typeface="Aptos"/>
                <a:cs typeface="Aptos"/>
              </a:rPr>
              <a:t>Strategies</a:t>
            </a:r>
            <a:r>
              <a:rPr sz="2400" spc="-65" dirty="0">
                <a:latin typeface="Aptos"/>
                <a:cs typeface="Aptos"/>
              </a:rPr>
              <a:t> </a:t>
            </a:r>
            <a:r>
              <a:rPr sz="2400" dirty="0">
                <a:latin typeface="Aptos"/>
                <a:cs typeface="Aptos"/>
              </a:rPr>
              <a:t>for</a:t>
            </a:r>
            <a:r>
              <a:rPr sz="2400" spc="-55" dirty="0">
                <a:latin typeface="Aptos"/>
                <a:cs typeface="Aptos"/>
              </a:rPr>
              <a:t> </a:t>
            </a:r>
            <a:r>
              <a:rPr sz="2400" spc="-10" dirty="0">
                <a:latin typeface="Aptos"/>
                <a:cs typeface="Aptos"/>
              </a:rPr>
              <a:t>overcoming</a:t>
            </a:r>
            <a:r>
              <a:rPr sz="2400" spc="-20" dirty="0">
                <a:latin typeface="Aptos"/>
                <a:cs typeface="Aptos"/>
              </a:rPr>
              <a:t> </a:t>
            </a:r>
            <a:r>
              <a:rPr sz="2400" dirty="0">
                <a:latin typeface="Aptos"/>
                <a:cs typeface="Aptos"/>
              </a:rPr>
              <a:t>these</a:t>
            </a:r>
            <a:r>
              <a:rPr sz="2400" spc="-60" dirty="0">
                <a:latin typeface="Aptos"/>
                <a:cs typeface="Aptos"/>
              </a:rPr>
              <a:t> </a:t>
            </a:r>
            <a:r>
              <a:rPr sz="2400" spc="-10" dirty="0">
                <a:latin typeface="Aptos"/>
                <a:cs typeface="Aptos"/>
              </a:rPr>
              <a:t>challenges</a:t>
            </a:r>
            <a:endParaRPr sz="2400" dirty="0">
              <a:latin typeface="Aptos"/>
              <a:cs typeface="Aptos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@HSC</a:t>
            </a:r>
            <a:r>
              <a:rPr spc="-35" dirty="0"/>
              <a:t> </a:t>
            </a:r>
            <a:r>
              <a:rPr dirty="0"/>
              <a:t>submission-</a:t>
            </a:r>
            <a:r>
              <a:rPr spc="-30" dirty="0"/>
              <a:t> </a:t>
            </a:r>
            <a:r>
              <a:rPr spc="-10" dirty="0"/>
              <a:t>Template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5"/>
          <p:cNvGrpSpPr/>
          <p:nvPr/>
        </p:nvGrpSpPr>
        <p:grpSpPr>
          <a:xfrm>
            <a:off x="144771" y="124951"/>
            <a:ext cx="1654175" cy="930275"/>
            <a:chOff x="144771" y="124951"/>
            <a:chExt cx="1654175" cy="93027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4771" y="124951"/>
              <a:ext cx="1653556" cy="92968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3776" y="205727"/>
              <a:ext cx="966203" cy="83516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2994" y="143510"/>
              <a:ext cx="1581924" cy="857631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82994" y="143510"/>
              <a:ext cx="1582420" cy="857885"/>
            </a:xfrm>
            <a:custGeom>
              <a:avLst/>
              <a:gdLst/>
              <a:ahLst/>
              <a:cxnLst/>
              <a:rect l="l" t="t" r="r" b="b"/>
              <a:pathLst>
                <a:path w="1582420" h="857885">
                  <a:moveTo>
                    <a:pt x="0" y="428879"/>
                  </a:moveTo>
                  <a:lnTo>
                    <a:pt x="9401" y="362553"/>
                  </a:lnTo>
                  <a:lnTo>
                    <a:pt x="36668" y="299430"/>
                  </a:lnTo>
                  <a:lnTo>
                    <a:pt x="80394" y="240272"/>
                  </a:lnTo>
                  <a:lnTo>
                    <a:pt x="107989" y="212419"/>
                  </a:lnTo>
                  <a:lnTo>
                    <a:pt x="139171" y="185843"/>
                  </a:lnTo>
                  <a:lnTo>
                    <a:pt x="173765" y="160640"/>
                  </a:lnTo>
                  <a:lnTo>
                    <a:pt x="211594" y="136905"/>
                  </a:lnTo>
                  <a:lnTo>
                    <a:pt x="252482" y="114734"/>
                  </a:lnTo>
                  <a:lnTo>
                    <a:pt x="296254" y="94222"/>
                  </a:lnTo>
                  <a:lnTo>
                    <a:pt x="342734" y="75464"/>
                  </a:lnTo>
                  <a:lnTo>
                    <a:pt x="391747" y="58556"/>
                  </a:lnTo>
                  <a:lnTo>
                    <a:pt x="443115" y="43593"/>
                  </a:lnTo>
                  <a:lnTo>
                    <a:pt x="496663" y="30670"/>
                  </a:lnTo>
                  <a:lnTo>
                    <a:pt x="552216" y="19883"/>
                  </a:lnTo>
                  <a:lnTo>
                    <a:pt x="609598" y="11327"/>
                  </a:lnTo>
                  <a:lnTo>
                    <a:pt x="668632" y="5097"/>
                  </a:lnTo>
                  <a:lnTo>
                    <a:pt x="729143" y="1290"/>
                  </a:lnTo>
                  <a:lnTo>
                    <a:pt x="790955" y="0"/>
                  </a:lnTo>
                  <a:lnTo>
                    <a:pt x="852776" y="1290"/>
                  </a:lnTo>
                  <a:lnTo>
                    <a:pt x="913294" y="5097"/>
                  </a:lnTo>
                  <a:lnTo>
                    <a:pt x="972334" y="11327"/>
                  </a:lnTo>
                  <a:lnTo>
                    <a:pt x="1029720" y="19883"/>
                  </a:lnTo>
                  <a:lnTo>
                    <a:pt x="1085276" y="30670"/>
                  </a:lnTo>
                  <a:lnTo>
                    <a:pt x="1138827" y="43593"/>
                  </a:lnTo>
                  <a:lnTo>
                    <a:pt x="1190196" y="58556"/>
                  </a:lnTo>
                  <a:lnTo>
                    <a:pt x="1239208" y="75464"/>
                  </a:lnTo>
                  <a:lnTo>
                    <a:pt x="1285688" y="94222"/>
                  </a:lnTo>
                  <a:lnTo>
                    <a:pt x="1329460" y="114734"/>
                  </a:lnTo>
                  <a:lnTo>
                    <a:pt x="1370347" y="136905"/>
                  </a:lnTo>
                  <a:lnTo>
                    <a:pt x="1408174" y="160640"/>
                  </a:lnTo>
                  <a:lnTo>
                    <a:pt x="1442765" y="185843"/>
                  </a:lnTo>
                  <a:lnTo>
                    <a:pt x="1473946" y="212419"/>
                  </a:lnTo>
                  <a:lnTo>
                    <a:pt x="1501538" y="240272"/>
                  </a:lnTo>
                  <a:lnTo>
                    <a:pt x="1545260" y="299430"/>
                  </a:lnTo>
                  <a:lnTo>
                    <a:pt x="1572524" y="362553"/>
                  </a:lnTo>
                  <a:lnTo>
                    <a:pt x="1581924" y="428879"/>
                  </a:lnTo>
                  <a:lnTo>
                    <a:pt x="1579545" y="462393"/>
                  </a:lnTo>
                  <a:lnTo>
                    <a:pt x="1561037" y="527207"/>
                  </a:lnTo>
                  <a:lnTo>
                    <a:pt x="1525369" y="588431"/>
                  </a:lnTo>
                  <a:lnTo>
                    <a:pt x="1473946" y="645305"/>
                  </a:lnTo>
                  <a:lnTo>
                    <a:pt x="1442765" y="671873"/>
                  </a:lnTo>
                  <a:lnTo>
                    <a:pt x="1408174" y="697067"/>
                  </a:lnTo>
                  <a:lnTo>
                    <a:pt x="1370347" y="720793"/>
                  </a:lnTo>
                  <a:lnTo>
                    <a:pt x="1329460" y="742955"/>
                  </a:lnTo>
                  <a:lnTo>
                    <a:pt x="1285688" y="763458"/>
                  </a:lnTo>
                  <a:lnTo>
                    <a:pt x="1239208" y="782207"/>
                  </a:lnTo>
                  <a:lnTo>
                    <a:pt x="1190196" y="799107"/>
                  </a:lnTo>
                  <a:lnTo>
                    <a:pt x="1138827" y="814062"/>
                  </a:lnTo>
                  <a:lnTo>
                    <a:pt x="1085276" y="826978"/>
                  </a:lnTo>
                  <a:lnTo>
                    <a:pt x="1029720" y="837759"/>
                  </a:lnTo>
                  <a:lnTo>
                    <a:pt x="972334" y="846310"/>
                  </a:lnTo>
                  <a:lnTo>
                    <a:pt x="913294" y="852536"/>
                  </a:lnTo>
                  <a:lnTo>
                    <a:pt x="852776" y="856341"/>
                  </a:lnTo>
                  <a:lnTo>
                    <a:pt x="790955" y="857631"/>
                  </a:lnTo>
                  <a:lnTo>
                    <a:pt x="729143" y="856341"/>
                  </a:lnTo>
                  <a:lnTo>
                    <a:pt x="668632" y="852536"/>
                  </a:lnTo>
                  <a:lnTo>
                    <a:pt x="609598" y="846310"/>
                  </a:lnTo>
                  <a:lnTo>
                    <a:pt x="552216" y="837759"/>
                  </a:lnTo>
                  <a:lnTo>
                    <a:pt x="496663" y="826978"/>
                  </a:lnTo>
                  <a:lnTo>
                    <a:pt x="443115" y="814062"/>
                  </a:lnTo>
                  <a:lnTo>
                    <a:pt x="391747" y="799107"/>
                  </a:lnTo>
                  <a:lnTo>
                    <a:pt x="342734" y="782207"/>
                  </a:lnTo>
                  <a:lnTo>
                    <a:pt x="296254" y="763458"/>
                  </a:lnTo>
                  <a:lnTo>
                    <a:pt x="252482" y="742955"/>
                  </a:lnTo>
                  <a:lnTo>
                    <a:pt x="211594" y="720793"/>
                  </a:lnTo>
                  <a:lnTo>
                    <a:pt x="173765" y="697067"/>
                  </a:lnTo>
                  <a:lnTo>
                    <a:pt x="139171" y="671873"/>
                  </a:lnTo>
                  <a:lnTo>
                    <a:pt x="107989" y="645305"/>
                  </a:lnTo>
                  <a:lnTo>
                    <a:pt x="80394" y="617460"/>
                  </a:lnTo>
                  <a:lnTo>
                    <a:pt x="36668" y="558315"/>
                  </a:lnTo>
                  <a:lnTo>
                    <a:pt x="9401" y="495201"/>
                  </a:lnTo>
                  <a:lnTo>
                    <a:pt x="0" y="428879"/>
                  </a:lnTo>
                  <a:close/>
                </a:path>
              </a:pathLst>
            </a:custGeom>
            <a:ln w="9525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641261" y="380626"/>
            <a:ext cx="62484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7625">
              <a:lnSpc>
                <a:spcPct val="100000"/>
              </a:lnSpc>
              <a:spcBef>
                <a:spcPts val="100"/>
              </a:spcBef>
            </a:pPr>
            <a:r>
              <a:rPr lang="en-IN" b="1" spc="-20" dirty="0">
                <a:latin typeface="Aptos"/>
                <a:cs typeface="Aptos"/>
              </a:rPr>
              <a:t>AGSS</a:t>
            </a:r>
            <a:endParaRPr sz="1800" b="1" dirty="0">
              <a:latin typeface="Aptos"/>
              <a:cs typeface="Aptos"/>
            </a:endParaRP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085715" y="238201"/>
            <a:ext cx="113411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5" dirty="0"/>
              <a:t>Team</a:t>
            </a:r>
          </a:p>
        </p:txBody>
      </p:sp>
      <p:pic>
        <p:nvPicPr>
          <p:cNvPr id="4" name="object 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013233" y="32511"/>
            <a:ext cx="1824817" cy="935863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838200" y="1487222"/>
            <a:ext cx="10363200" cy="483978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400" b="1" dirty="0">
                <a:latin typeface="Aptos"/>
                <a:cs typeface="Aptos"/>
              </a:rPr>
              <a:t>Team Composition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IN" sz="2400" b="1" dirty="0">
              <a:latin typeface="Aptos"/>
              <a:cs typeface="Aptos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IN" sz="1600" b="1" dirty="0"/>
              <a:t>Dinesh Vijay N </a:t>
            </a:r>
            <a:r>
              <a:rPr lang="en-IN" sz="1600" dirty="0"/>
              <a:t>– Hardware and Sensor Integration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1600" b="1" dirty="0"/>
              <a:t>Narayana Sivam V </a:t>
            </a:r>
            <a:r>
              <a:rPr lang="en-IN" sz="1600" dirty="0"/>
              <a:t>– AI Development and Software Implementation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1600" b="1" dirty="0"/>
              <a:t>Krishna Karthik J</a:t>
            </a:r>
            <a:r>
              <a:rPr lang="en-IN" sz="1600" dirty="0"/>
              <a:t> – IoT Connectivity, Testing, and Documentation</a:t>
            </a:r>
          </a:p>
          <a:p>
            <a:pPr marL="342900" lvl="0" indent="-342900">
              <a:buFont typeface="+mj-lt"/>
              <a:buAutoNum type="arabicPeriod"/>
            </a:pPr>
            <a:endParaRPr lang="en-IN" sz="1600" dirty="0"/>
          </a:p>
          <a:p>
            <a:pPr marL="342900" lvl="0" indent="-342900">
              <a:buFont typeface="+mj-lt"/>
              <a:buAutoNum type="arabicPeriod"/>
            </a:pPr>
            <a:endParaRPr lang="en-IN" sz="1600" dirty="0"/>
          </a:p>
          <a:p>
            <a:pPr lvl="0"/>
            <a:r>
              <a:rPr lang="en-IN" sz="2400" b="1" dirty="0"/>
              <a:t>Challenges and learning</a:t>
            </a:r>
          </a:p>
          <a:p>
            <a:pPr lvl="0"/>
            <a:endParaRPr lang="en-IN" sz="2400" b="1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Challenges: Integrating gas sensors with ESP32, ensuring accurate gas-leak detection, reducing false alarms, and implementing reliable real-time alerts and automatic shut-off.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Technical Learning: Gained knowledge of IoT, AI-based risk detection, sensor integration, and real-time monitoring.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Teamwork and Innovation: Improved problem-solving, collaboration, testing, and the ability to develop a practical gas safety solution.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1600" b="1" dirty="0"/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2400" b="1" dirty="0">
              <a:latin typeface="Aptos"/>
              <a:cs typeface="Aptos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@HSC</a:t>
            </a:r>
            <a:r>
              <a:rPr spc="-35" dirty="0"/>
              <a:t> </a:t>
            </a:r>
            <a:r>
              <a:rPr dirty="0"/>
              <a:t>submission-</a:t>
            </a:r>
            <a:r>
              <a:rPr spc="-30" dirty="0"/>
              <a:t> </a:t>
            </a:r>
            <a:r>
              <a:rPr spc="-10" dirty="0"/>
              <a:t>Template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5"/>
          <p:cNvGrpSpPr/>
          <p:nvPr/>
        </p:nvGrpSpPr>
        <p:grpSpPr>
          <a:xfrm>
            <a:off x="160070" y="126551"/>
            <a:ext cx="1654175" cy="930275"/>
            <a:chOff x="144771" y="124951"/>
            <a:chExt cx="1654175" cy="93027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4771" y="124951"/>
              <a:ext cx="1653556" cy="92968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3776" y="205727"/>
              <a:ext cx="966203" cy="83516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2994" y="143510"/>
              <a:ext cx="1581924" cy="857631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82994" y="143510"/>
              <a:ext cx="1582420" cy="857885"/>
            </a:xfrm>
            <a:custGeom>
              <a:avLst/>
              <a:gdLst/>
              <a:ahLst/>
              <a:cxnLst/>
              <a:rect l="l" t="t" r="r" b="b"/>
              <a:pathLst>
                <a:path w="1582420" h="857885">
                  <a:moveTo>
                    <a:pt x="0" y="428879"/>
                  </a:moveTo>
                  <a:lnTo>
                    <a:pt x="9401" y="362553"/>
                  </a:lnTo>
                  <a:lnTo>
                    <a:pt x="36668" y="299430"/>
                  </a:lnTo>
                  <a:lnTo>
                    <a:pt x="80394" y="240272"/>
                  </a:lnTo>
                  <a:lnTo>
                    <a:pt x="107989" y="212419"/>
                  </a:lnTo>
                  <a:lnTo>
                    <a:pt x="139171" y="185843"/>
                  </a:lnTo>
                  <a:lnTo>
                    <a:pt x="173765" y="160640"/>
                  </a:lnTo>
                  <a:lnTo>
                    <a:pt x="211594" y="136905"/>
                  </a:lnTo>
                  <a:lnTo>
                    <a:pt x="252482" y="114734"/>
                  </a:lnTo>
                  <a:lnTo>
                    <a:pt x="296254" y="94222"/>
                  </a:lnTo>
                  <a:lnTo>
                    <a:pt x="342734" y="75464"/>
                  </a:lnTo>
                  <a:lnTo>
                    <a:pt x="391747" y="58556"/>
                  </a:lnTo>
                  <a:lnTo>
                    <a:pt x="443115" y="43593"/>
                  </a:lnTo>
                  <a:lnTo>
                    <a:pt x="496663" y="30670"/>
                  </a:lnTo>
                  <a:lnTo>
                    <a:pt x="552216" y="19883"/>
                  </a:lnTo>
                  <a:lnTo>
                    <a:pt x="609598" y="11327"/>
                  </a:lnTo>
                  <a:lnTo>
                    <a:pt x="668632" y="5097"/>
                  </a:lnTo>
                  <a:lnTo>
                    <a:pt x="729143" y="1290"/>
                  </a:lnTo>
                  <a:lnTo>
                    <a:pt x="790955" y="0"/>
                  </a:lnTo>
                  <a:lnTo>
                    <a:pt x="852776" y="1290"/>
                  </a:lnTo>
                  <a:lnTo>
                    <a:pt x="913294" y="5097"/>
                  </a:lnTo>
                  <a:lnTo>
                    <a:pt x="972334" y="11327"/>
                  </a:lnTo>
                  <a:lnTo>
                    <a:pt x="1029720" y="19883"/>
                  </a:lnTo>
                  <a:lnTo>
                    <a:pt x="1085276" y="30670"/>
                  </a:lnTo>
                  <a:lnTo>
                    <a:pt x="1138827" y="43593"/>
                  </a:lnTo>
                  <a:lnTo>
                    <a:pt x="1190196" y="58556"/>
                  </a:lnTo>
                  <a:lnTo>
                    <a:pt x="1239208" y="75464"/>
                  </a:lnTo>
                  <a:lnTo>
                    <a:pt x="1285688" y="94222"/>
                  </a:lnTo>
                  <a:lnTo>
                    <a:pt x="1329460" y="114734"/>
                  </a:lnTo>
                  <a:lnTo>
                    <a:pt x="1370347" y="136905"/>
                  </a:lnTo>
                  <a:lnTo>
                    <a:pt x="1408174" y="160640"/>
                  </a:lnTo>
                  <a:lnTo>
                    <a:pt x="1442765" y="185843"/>
                  </a:lnTo>
                  <a:lnTo>
                    <a:pt x="1473946" y="212419"/>
                  </a:lnTo>
                  <a:lnTo>
                    <a:pt x="1501538" y="240272"/>
                  </a:lnTo>
                  <a:lnTo>
                    <a:pt x="1545260" y="299430"/>
                  </a:lnTo>
                  <a:lnTo>
                    <a:pt x="1572524" y="362553"/>
                  </a:lnTo>
                  <a:lnTo>
                    <a:pt x="1581924" y="428879"/>
                  </a:lnTo>
                  <a:lnTo>
                    <a:pt x="1579545" y="462393"/>
                  </a:lnTo>
                  <a:lnTo>
                    <a:pt x="1561037" y="527207"/>
                  </a:lnTo>
                  <a:lnTo>
                    <a:pt x="1525369" y="588431"/>
                  </a:lnTo>
                  <a:lnTo>
                    <a:pt x="1473946" y="645305"/>
                  </a:lnTo>
                  <a:lnTo>
                    <a:pt x="1442765" y="671873"/>
                  </a:lnTo>
                  <a:lnTo>
                    <a:pt x="1408174" y="697067"/>
                  </a:lnTo>
                  <a:lnTo>
                    <a:pt x="1370347" y="720793"/>
                  </a:lnTo>
                  <a:lnTo>
                    <a:pt x="1329460" y="742955"/>
                  </a:lnTo>
                  <a:lnTo>
                    <a:pt x="1285688" y="763458"/>
                  </a:lnTo>
                  <a:lnTo>
                    <a:pt x="1239208" y="782207"/>
                  </a:lnTo>
                  <a:lnTo>
                    <a:pt x="1190196" y="799107"/>
                  </a:lnTo>
                  <a:lnTo>
                    <a:pt x="1138827" y="814062"/>
                  </a:lnTo>
                  <a:lnTo>
                    <a:pt x="1085276" y="826978"/>
                  </a:lnTo>
                  <a:lnTo>
                    <a:pt x="1029720" y="837759"/>
                  </a:lnTo>
                  <a:lnTo>
                    <a:pt x="972334" y="846310"/>
                  </a:lnTo>
                  <a:lnTo>
                    <a:pt x="913294" y="852536"/>
                  </a:lnTo>
                  <a:lnTo>
                    <a:pt x="852776" y="856341"/>
                  </a:lnTo>
                  <a:lnTo>
                    <a:pt x="790955" y="857631"/>
                  </a:lnTo>
                  <a:lnTo>
                    <a:pt x="729143" y="856341"/>
                  </a:lnTo>
                  <a:lnTo>
                    <a:pt x="668632" y="852536"/>
                  </a:lnTo>
                  <a:lnTo>
                    <a:pt x="609598" y="846310"/>
                  </a:lnTo>
                  <a:lnTo>
                    <a:pt x="552216" y="837759"/>
                  </a:lnTo>
                  <a:lnTo>
                    <a:pt x="496663" y="826978"/>
                  </a:lnTo>
                  <a:lnTo>
                    <a:pt x="443115" y="814062"/>
                  </a:lnTo>
                  <a:lnTo>
                    <a:pt x="391747" y="799107"/>
                  </a:lnTo>
                  <a:lnTo>
                    <a:pt x="342734" y="782207"/>
                  </a:lnTo>
                  <a:lnTo>
                    <a:pt x="296254" y="763458"/>
                  </a:lnTo>
                  <a:lnTo>
                    <a:pt x="252482" y="742955"/>
                  </a:lnTo>
                  <a:lnTo>
                    <a:pt x="211594" y="720793"/>
                  </a:lnTo>
                  <a:lnTo>
                    <a:pt x="173765" y="697067"/>
                  </a:lnTo>
                  <a:lnTo>
                    <a:pt x="139171" y="671873"/>
                  </a:lnTo>
                  <a:lnTo>
                    <a:pt x="107989" y="645305"/>
                  </a:lnTo>
                  <a:lnTo>
                    <a:pt x="80394" y="617460"/>
                  </a:lnTo>
                  <a:lnTo>
                    <a:pt x="36668" y="558315"/>
                  </a:lnTo>
                  <a:lnTo>
                    <a:pt x="9401" y="495201"/>
                  </a:lnTo>
                  <a:lnTo>
                    <a:pt x="0" y="428879"/>
                  </a:lnTo>
                  <a:close/>
                </a:path>
              </a:pathLst>
            </a:custGeom>
            <a:ln w="9525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695404" y="429013"/>
            <a:ext cx="62484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7625">
              <a:lnSpc>
                <a:spcPct val="100000"/>
              </a:lnSpc>
              <a:spcBef>
                <a:spcPts val="100"/>
              </a:spcBef>
            </a:pPr>
            <a:r>
              <a:rPr lang="en-IN" b="1" spc="-20" dirty="0">
                <a:latin typeface="Aptos"/>
                <a:cs typeface="Aptos"/>
              </a:rPr>
              <a:t>AGSS</a:t>
            </a:r>
            <a:endParaRPr sz="1800" b="1" dirty="0">
              <a:latin typeface="Aptos"/>
              <a:cs typeface="Aptos"/>
            </a:endParaRP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0378" rIns="0" bIns="0" rtlCol="0">
            <a:spAutoFit/>
          </a:bodyPr>
          <a:lstStyle/>
          <a:p>
            <a:pPr marL="231013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References</a:t>
            </a:r>
          </a:p>
        </p:txBody>
      </p:sp>
      <p:pic>
        <p:nvPicPr>
          <p:cNvPr id="4" name="object 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013233" y="32511"/>
            <a:ext cx="1824817" cy="935863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93776" y="1229986"/>
            <a:ext cx="11543621" cy="483978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lang="en-IN" sz="2400" b="1" dirty="0"/>
              <a:t>Technical References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endParaRPr lang="en-IN" sz="2400" b="1" dirty="0">
              <a:latin typeface="Aptos"/>
              <a:cs typeface="Aptos"/>
            </a:endParaRPr>
          </a:p>
          <a:p>
            <a:pPr marL="342900" indent="-342900">
              <a:buAutoNum type="arabicPeriod"/>
            </a:pPr>
            <a:r>
              <a:rPr lang="en-IN" sz="1600" dirty="0"/>
              <a:t>MQ-2 Gas Sensor Datasheet – Gas and smoke detection principles, operating conditions, and sensor specifications.</a:t>
            </a:r>
          </a:p>
          <a:p>
            <a:r>
              <a:rPr lang="en-IN" sz="1600" dirty="0">
                <a:hlinkClick r:id="rId6"/>
              </a:rPr>
              <a:t>Read MQ-2 Sensor Technical Information</a:t>
            </a:r>
            <a:endParaRPr lang="en-IN" sz="1600" dirty="0"/>
          </a:p>
          <a:p>
            <a:r>
              <a:rPr lang="en-IN" sz="1600" dirty="0"/>
              <a:t>2. ESP32 Datasheet – </a:t>
            </a:r>
            <a:r>
              <a:rPr lang="en-IN" sz="1600" dirty="0" err="1"/>
              <a:t>Espressif</a:t>
            </a:r>
            <a:r>
              <a:rPr lang="en-IN" sz="1600" dirty="0"/>
              <a:t> Systems – Microcontroller specifications, GPIO pins, Wi-Fi, and IoT connectivity.</a:t>
            </a:r>
            <a:br>
              <a:rPr lang="en-IN" sz="1600" dirty="0"/>
            </a:br>
            <a:r>
              <a:rPr lang="en-IN" sz="1600" dirty="0">
                <a:hlinkClick r:id="rId7"/>
              </a:rPr>
              <a:t>Official ESP32 Datasheet</a:t>
            </a:r>
            <a:r>
              <a:rPr lang="en-IN" sz="1600" dirty="0"/>
              <a:t> </a:t>
            </a:r>
          </a:p>
          <a:p>
            <a:r>
              <a:rPr lang="en-IN" sz="1600" dirty="0" err="1"/>
              <a:t>Espressif</a:t>
            </a:r>
            <a:r>
              <a:rPr lang="en-IN" sz="1600" dirty="0"/>
              <a:t> Documentation</a:t>
            </a:r>
          </a:p>
          <a:p>
            <a:r>
              <a:rPr lang="en-IN" sz="1600" dirty="0"/>
              <a:t>3. DHT22 / AM2302 Temperature and Humidity Sensor – Temperature and humidity measurement specifications.</a:t>
            </a:r>
            <a:br>
              <a:rPr lang="en-IN" sz="1600" dirty="0"/>
            </a:br>
            <a:r>
              <a:rPr lang="en-IN" sz="1600" dirty="0">
                <a:hlinkClick r:id="rId8"/>
              </a:rPr>
              <a:t>DHT22 Technical Documentation Search</a:t>
            </a:r>
            <a:endParaRPr lang="en-IN" sz="1600" dirty="0"/>
          </a:p>
          <a:p>
            <a:r>
              <a:rPr lang="en-IN" sz="1600" dirty="0"/>
              <a:t>4. Arduino Documentation – Programming microcontrollers and interfacing sensors.</a:t>
            </a:r>
            <a:br>
              <a:rPr lang="en-IN" sz="1600" dirty="0"/>
            </a:br>
            <a:r>
              <a:rPr lang="en-IN" sz="1600" dirty="0">
                <a:hlinkClick r:id="rId9"/>
              </a:rPr>
              <a:t>Official Arduino Documentation</a:t>
            </a:r>
            <a:endParaRPr lang="en-IN" sz="1600" dirty="0"/>
          </a:p>
          <a:p>
            <a:r>
              <a:rPr lang="en-IN" sz="1600" dirty="0"/>
              <a:t>5. </a:t>
            </a:r>
            <a:r>
              <a:rPr lang="en-IN" sz="1600" dirty="0" err="1"/>
              <a:t>ThingSpeak</a:t>
            </a:r>
            <a:r>
              <a:rPr lang="en-IN" sz="1600" dirty="0"/>
              <a:t> IoT Platform – Online sensor-data visualization and monitoring, if used in your project.</a:t>
            </a:r>
            <a:br>
              <a:rPr lang="en-IN" sz="1600" dirty="0"/>
            </a:br>
            <a:r>
              <a:rPr lang="en-IN" sz="1600" dirty="0">
                <a:hlinkClick r:id="rId10"/>
              </a:rPr>
              <a:t>Official </a:t>
            </a:r>
            <a:r>
              <a:rPr lang="en-IN" sz="1600" dirty="0" err="1">
                <a:hlinkClick r:id="rId10"/>
              </a:rPr>
              <a:t>ThingSpeak</a:t>
            </a:r>
            <a:r>
              <a:rPr lang="en-IN" sz="1600" dirty="0">
                <a:hlinkClick r:id="rId10"/>
              </a:rPr>
              <a:t> Documentation</a:t>
            </a:r>
            <a:endParaRPr lang="en-IN" sz="1600" dirty="0"/>
          </a:p>
          <a:p>
            <a:r>
              <a:rPr lang="en-IN" sz="1600" dirty="0"/>
              <a:t>6. Research on IoT-Based Gas Leakage Detection – Related research on gas sensing, wireless monitoring, and alert systems.</a:t>
            </a:r>
            <a:br>
              <a:rPr lang="en-IN" sz="1600" dirty="0"/>
            </a:br>
            <a:r>
              <a:rPr lang="en-IN" sz="1600" dirty="0">
                <a:hlinkClick r:id="rId11"/>
              </a:rPr>
              <a:t>Google Scholar Research Papers</a:t>
            </a:r>
            <a:endParaRPr lang="en-IN" sz="1600" dirty="0"/>
          </a:p>
          <a:p>
            <a:r>
              <a:rPr lang="en-IN" sz="1600" dirty="0"/>
              <a:t>7. AI-Based Gas Leakage Detection Research – Research on intelligent sensor analysis and risk classification.</a:t>
            </a:r>
            <a:br>
              <a:rPr lang="en-IN" sz="1600" dirty="0"/>
            </a:br>
            <a:r>
              <a:rPr lang="en-IN" sz="1600" dirty="0">
                <a:hlinkClick r:id="rId12"/>
              </a:rPr>
              <a:t>Google Scholar Research Papers</a:t>
            </a:r>
            <a:endParaRPr lang="en-IN" sz="1600" dirty="0"/>
          </a:p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endParaRPr sz="2400" b="1" dirty="0">
              <a:latin typeface="Aptos"/>
              <a:cs typeface="Aptos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@HSC</a:t>
            </a:r>
            <a:r>
              <a:rPr spc="-35" dirty="0"/>
              <a:t> </a:t>
            </a:r>
            <a:r>
              <a:rPr dirty="0"/>
              <a:t>submission-</a:t>
            </a:r>
            <a:r>
              <a:rPr spc="-30" dirty="0"/>
              <a:t> </a:t>
            </a:r>
            <a:r>
              <a:rPr spc="-10" dirty="0"/>
              <a:t>Template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</TotalTime>
  <Words>1018</Words>
  <Application>Microsoft Office PowerPoint</Application>
  <PresentationFormat>Widescreen</PresentationFormat>
  <Paragraphs>102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Arial</vt:lpstr>
      <vt:lpstr>Calibri</vt:lpstr>
      <vt:lpstr>Office Theme</vt:lpstr>
      <vt:lpstr>Cover Page</vt:lpstr>
      <vt:lpstr>Problem – Proposed Solution</vt:lpstr>
      <vt:lpstr>Technical Approach</vt:lpstr>
      <vt:lpstr>Impact Potential</vt:lpstr>
      <vt:lpstr>Feasibility and Risk Analysis</vt:lpstr>
      <vt:lpstr>Team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Template_HSC_VBYLD_2027</dc:title>
  <dc:creator>Vamsi_IITB</dc:creator>
  <cp:lastModifiedBy>Danish Vinkey</cp:lastModifiedBy>
  <cp:revision>6</cp:revision>
  <dcterms:created xsi:type="dcterms:W3CDTF">2026-10-26T12:07:23Z</dcterms:created>
  <dcterms:modified xsi:type="dcterms:W3CDTF">2026-10-26T12:55:20Z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2026-08-17T00:00:00Z</vt:filetime>
  </property>
  <property fmtid="{D5CDD505-2E9C-101B-9397-08002B2CF9AE}" pid="4" name="Creator">
    <vt:lpwstr>Microsoft® PowerPoint® 2021</vt:lpwstr>
  </property>
  <property fmtid="{D5CDD505-2E9C-101B-9397-08002B2CF9AE}" pid="5" name="LastSaved">
    <vt:filetime>2026-10-26T00:00:00Z</vt:filetime>
  </property>
  <property fmtid="{D5CDD505-2E9C-101B-9397-08002B2CF9AE}" pid="6" name="Producer">
    <vt:lpwstr>Microsoft® PowerPoint® 2021</vt:lpwstr>
  </property>
</Properties>
</file>